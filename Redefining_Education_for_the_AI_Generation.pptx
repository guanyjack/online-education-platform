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7" r:id="rId4"/>
    <p:sldId id="266" r:id="rId5"/>
    <p:sldId id="260" r:id="rId6"/>
    <p:sldId id="267" r:id="rId7"/>
    <p:sldId id="262" r:id="rId8"/>
    <p:sldId id="263" r:id="rId9"/>
    <p:sldId id="264" r:id="rId10"/>
    <p:sldId id="268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0CA3"/>
    <a:srgbClr val="4361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49" autoAdjust="0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6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19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1.jpe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jpe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jpe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3857625" cy="403510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2347322" y="3533373"/>
            <a:ext cx="1775222" cy="83465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altLang="zh-CN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</a:rPr>
              <a:t>Group A</a:t>
            </a:r>
          </a:p>
          <a:p>
            <a:pPr marL="0" indent="0" algn="r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</a:rPr>
              <a:t> Zhu Xinyi</a:t>
            </a:r>
          </a:p>
          <a:p>
            <a:pPr algn="r">
              <a:lnSpc>
                <a:spcPts val="1100"/>
              </a:lnSpc>
            </a:pPr>
            <a:r>
              <a:rPr lang="en-US" altLang="zh-CN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</a:rPr>
              <a:t>Tu Che Wei</a:t>
            </a:r>
          </a:p>
          <a:p>
            <a:pPr algn="r">
              <a:lnSpc>
                <a:spcPts val="1100"/>
              </a:lnSpc>
            </a:pPr>
            <a:r>
              <a:rPr lang="en-US" altLang="zh-CN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</a:rPr>
              <a:t>Guan Yongjie</a:t>
            </a:r>
          </a:p>
          <a:p>
            <a:pPr algn="r">
              <a:lnSpc>
                <a:spcPts val="1100"/>
              </a:lnSpc>
            </a:pPr>
            <a:r>
              <a:rPr lang="en-US" sz="800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</a:rPr>
              <a:t>Mak Sui Ling Angela</a:t>
            </a:r>
          </a:p>
        </p:txBody>
      </p:sp>
      <p:sp>
        <p:nvSpPr>
          <p:cNvPr id="5" name="Text 2"/>
          <p:cNvSpPr/>
          <p:nvPr/>
        </p:nvSpPr>
        <p:spPr>
          <a:xfrm>
            <a:off x="1000125" y="950238"/>
            <a:ext cx="2924176" cy="203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Redefining Education </a:t>
            </a:r>
          </a:p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</a:t>
            </a:r>
            <a:r>
              <a:rPr lang="en-US" sz="3294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Generation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000125" y="2966864"/>
            <a:ext cx="3000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Personalized, Holistic AI Learning Companion for K12 and Beyond</a:t>
            </a:r>
            <a:endParaRPr lang="en-US" sz="1269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67EBCAE-DE63-B2E5-A60C-8ADB98F62B64}"/>
              </a:ext>
            </a:extLst>
          </p:cNvPr>
          <p:cNvGrpSpPr/>
          <p:nvPr/>
        </p:nvGrpSpPr>
        <p:grpSpPr>
          <a:xfrm>
            <a:off x="4714875" y="997502"/>
            <a:ext cx="3857625" cy="868635"/>
            <a:chOff x="4714875" y="997502"/>
            <a:chExt cx="3857625" cy="868635"/>
          </a:xfrm>
        </p:grpSpPr>
        <p:sp>
          <p:nvSpPr>
            <p:cNvPr id="7" name="Shape 4"/>
            <p:cNvSpPr/>
            <p:nvPr/>
          </p:nvSpPr>
          <p:spPr>
            <a:xfrm>
              <a:off x="4714875" y="997502"/>
              <a:ext cx="3857625" cy="868635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9188" y="1254677"/>
              <a:ext cx="228600" cy="228600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5300663" y="1226102"/>
              <a:ext cx="3057525" cy="411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942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An AI-powered EdTech platform that </a:t>
              </a:r>
              <a:r>
                <a:rPr lang="en-US" sz="885" b="1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diagnoses, guides, and supports</a:t>
              </a:r>
              <a:r>
                <a:rPr lang="en-US" sz="942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every learner individually.</a:t>
              </a:r>
              <a:endParaRPr lang="en-US" sz="942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9DCA8E3-6439-3D78-1FB2-EBE0BC252618}"/>
              </a:ext>
            </a:extLst>
          </p:cNvPr>
          <p:cNvGrpSpPr/>
          <p:nvPr/>
        </p:nvGrpSpPr>
        <p:grpSpPr>
          <a:xfrm>
            <a:off x="4714875" y="3254815"/>
            <a:ext cx="3857625" cy="868635"/>
            <a:chOff x="4714875" y="3254815"/>
            <a:chExt cx="3857625" cy="868635"/>
          </a:xfrm>
        </p:grpSpPr>
        <p:sp>
          <p:nvSpPr>
            <p:cNvPr id="13" name="Shape 8"/>
            <p:cNvSpPr/>
            <p:nvPr/>
          </p:nvSpPr>
          <p:spPr>
            <a:xfrm>
              <a:off x="4714875" y="3254815"/>
              <a:ext cx="3857625" cy="868635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29188" y="3511990"/>
              <a:ext cx="285750" cy="228600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5357813" y="3483415"/>
              <a:ext cx="3000375" cy="411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942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Built for </a:t>
              </a:r>
              <a:r>
                <a:rPr lang="en-US" sz="885" b="1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 Z &amp; Alpha</a:t>
              </a:r>
              <a:r>
                <a:rPr lang="en-US" sz="942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students, trusted by teachers, transparent to parents.</a:t>
              </a:r>
              <a:endParaRPr lang="en-US" sz="942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DE5FCCB-DEC3-A683-AA4A-F4E2438BC972}"/>
              </a:ext>
            </a:extLst>
          </p:cNvPr>
          <p:cNvGrpSpPr/>
          <p:nvPr/>
        </p:nvGrpSpPr>
        <p:grpSpPr>
          <a:xfrm>
            <a:off x="4714875" y="2099059"/>
            <a:ext cx="3857625" cy="868635"/>
            <a:chOff x="4714875" y="2024671"/>
            <a:chExt cx="3857625" cy="868635"/>
          </a:xfrm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AAC119EA-8469-9701-53F7-29A17BC9FA3E}"/>
                </a:ext>
              </a:extLst>
            </p:cNvPr>
            <p:cNvSpPr/>
            <p:nvPr/>
          </p:nvSpPr>
          <p:spPr>
            <a:xfrm>
              <a:off x="4714875" y="2024671"/>
              <a:ext cx="3857625" cy="868635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29188" y="2343484"/>
              <a:ext cx="228600" cy="22860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5300663" y="2251900"/>
              <a:ext cx="3057525" cy="6171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942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Bridging </a:t>
              </a:r>
              <a:r>
                <a:rPr lang="en-US" sz="885" b="1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academic mastery, mental wellness, and career readiness</a:t>
              </a:r>
              <a:r>
                <a:rPr lang="en-US" sz="942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in one seamless ecosystem.</a:t>
              </a:r>
              <a:endParaRPr lang="en-US" sz="942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770AD7-71A7-52B6-479B-2E6D40B31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498402" cy="25289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CUSTOMERS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7802" y="1305006"/>
            <a:ext cx="3124200" cy="126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4000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Multi-Stakeholder</a:t>
            </a:r>
            <a:r>
              <a:rPr lang="en-US" sz="4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ts val="3200"/>
              </a:lnSpc>
              <a:buNone/>
            </a:pPr>
            <a:r>
              <a:rPr lang="en-US" altLang="zh-CN" sz="4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r>
              <a:rPr lang="en-US" sz="4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cosystem</a:t>
            </a:r>
            <a:endParaRPr lang="en-US" sz="4000" dirty="0"/>
          </a:p>
        </p:txBody>
      </p:sp>
      <p:sp>
        <p:nvSpPr>
          <p:cNvPr id="32" name="矩形: 圆角 68">
            <a:extLst>
              <a:ext uri="{FF2B5EF4-FFF2-40B4-BE49-F238E27FC236}">
                <a16:creationId xmlns:a16="http://schemas.microsoft.com/office/drawing/2014/main" id="{D27D67E6-A828-CF80-EBC4-FF13FB8E9C2A}"/>
              </a:ext>
            </a:extLst>
          </p:cNvPr>
          <p:cNvSpPr/>
          <p:nvPr/>
        </p:nvSpPr>
        <p:spPr>
          <a:xfrm>
            <a:off x="595375" y="427037"/>
            <a:ext cx="1274066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8AD0E233-BBC0-96A6-BFCE-A277102FB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783" y="-609469"/>
            <a:ext cx="5478050" cy="6356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7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6100" y="428625"/>
            <a:ext cx="1105495" cy="25289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807244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2436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Engagement-Wellbeing Gap</a:t>
            </a: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EdTech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361582"/>
            <a:ext cx="8001000" cy="95581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447307"/>
            <a:ext cx="78295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7225" y="1733057"/>
            <a:ext cx="78295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&amp; Impersonal Tools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657225" y="1997376"/>
            <a:ext cx="78295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EdTech often mimics textbooks—rigid and impersonal, causing students to disengage.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571500" y="2435186"/>
            <a:ext cx="3879056" cy="116152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520911"/>
            <a:ext cx="3707606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7225" y="2806661"/>
            <a:ext cx="37076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Overwhelmed Teachers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657225" y="3070980"/>
            <a:ext cx="3707606" cy="39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get scores without clear, qualitative insight into student misunderstandings.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4693444" y="2435186"/>
            <a:ext cx="3879056" cy="116152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169" y="2520911"/>
            <a:ext cx="3707606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79169" y="2806661"/>
            <a:ext cx="37076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Shame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4779169" y="3070980"/>
            <a:ext cx="37076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withdraw when they feel judged, choosing avoidance over focused help.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571500" y="3755491"/>
            <a:ext cx="3879056" cy="116152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841216"/>
            <a:ext cx="3707606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7225" y="4126966"/>
            <a:ext cx="37076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High-Stakes Stress</a:t>
            </a:r>
            <a:endParaRPr lang="en-US" sz="1193" dirty="0"/>
          </a:p>
        </p:txBody>
      </p:sp>
      <p:sp>
        <p:nvSpPr>
          <p:cNvPr id="20" name="Text 13"/>
          <p:cNvSpPr/>
          <p:nvPr/>
        </p:nvSpPr>
        <p:spPr>
          <a:xfrm>
            <a:off x="657225" y="4391284"/>
            <a:ext cx="3707606" cy="18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High-stakes exams raise anxiety without offering targeted, 1-on-1 support.</a:t>
            </a:r>
            <a:endParaRPr lang="en-US" sz="942" dirty="0"/>
          </a:p>
        </p:txBody>
      </p:sp>
      <p:sp>
        <p:nvSpPr>
          <p:cNvPr id="21" name="Shape 14"/>
          <p:cNvSpPr/>
          <p:nvPr/>
        </p:nvSpPr>
        <p:spPr>
          <a:xfrm>
            <a:off x="4693444" y="3766679"/>
            <a:ext cx="3879056" cy="116152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9169" y="3852404"/>
            <a:ext cx="3707606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779169" y="4138154"/>
            <a:ext cx="37076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Undetected Mental Health Crises</a:t>
            </a:r>
            <a:endParaRPr lang="en-US" sz="1193" dirty="0"/>
          </a:p>
        </p:txBody>
      </p:sp>
      <p:sp>
        <p:nvSpPr>
          <p:cNvPr id="24" name="Text 16"/>
          <p:cNvSpPr/>
          <p:nvPr/>
        </p:nvSpPr>
        <p:spPr>
          <a:xfrm>
            <a:off x="4779169" y="4402472"/>
            <a:ext cx="37076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warning signs of mental health issues are missed by current tools.</a:t>
            </a:r>
            <a:endParaRPr lang="en-US" sz="942" dirty="0"/>
          </a:p>
        </p:txBody>
      </p:sp>
      <p:sp>
        <p:nvSpPr>
          <p:cNvPr id="26" name="矩形: 圆角 68">
            <a:extLst>
              <a:ext uri="{FF2B5EF4-FFF2-40B4-BE49-F238E27FC236}">
                <a16:creationId xmlns:a16="http://schemas.microsoft.com/office/drawing/2014/main" id="{1FD9989E-03FB-65C3-F9C9-2C8408E9E5F3}"/>
              </a:ext>
            </a:extLst>
          </p:cNvPr>
          <p:cNvSpPr/>
          <p:nvPr/>
        </p:nvSpPr>
        <p:spPr>
          <a:xfrm>
            <a:off x="595374" y="427037"/>
            <a:ext cx="974345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6521707D-127C-61F7-2913-6F85CDD95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8775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559123" cy="25289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WORKFLOW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807244"/>
            <a:ext cx="4060663" cy="390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/>
                <a:ea typeface="Inter" pitchFamily="34" charset="-122"/>
                <a:cs typeface="Inter" pitchFamily="34" charset="-120"/>
              </a:rPr>
              <a:t>How the </a:t>
            </a:r>
            <a:r>
              <a:rPr lang="en-US" sz="2436" b="1" dirty="0">
                <a:solidFill>
                  <a:srgbClr val="4361EE"/>
                </a:solidFill>
                <a:latin typeface="Inter"/>
                <a:ea typeface="Inter" pitchFamily="34" charset="-122"/>
                <a:cs typeface="Inter" pitchFamily="34" charset="-120"/>
              </a:rPr>
              <a:t>Personalized AI</a:t>
            </a:r>
            <a:r>
              <a:rPr lang="en-US" sz="2436" b="1" dirty="0">
                <a:solidFill>
                  <a:srgbClr val="1A1A1A"/>
                </a:solidFill>
                <a:latin typeface="Inter"/>
                <a:ea typeface="Inter" pitchFamily="34" charset="-122"/>
                <a:cs typeface="Inter" pitchFamily="34" charset="-120"/>
              </a:rPr>
              <a:t> Works</a:t>
            </a:r>
            <a:endParaRPr lang="en-US" sz="2436" dirty="0">
              <a:latin typeface="Inter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542F12C3-032E-647E-98D5-79F04D586B13}"/>
              </a:ext>
            </a:extLst>
          </p:cNvPr>
          <p:cNvSpPr/>
          <p:nvPr/>
        </p:nvSpPr>
        <p:spPr>
          <a:xfrm>
            <a:off x="1249680" y="1760198"/>
            <a:ext cx="6667500" cy="1348762"/>
          </a:xfrm>
          <a:custGeom>
            <a:avLst/>
            <a:gdLst>
              <a:gd name="csX0" fmla="*/ 0 w 6667500"/>
              <a:gd name="csY0" fmla="*/ 1325902 h 1348762"/>
              <a:gd name="csX1" fmla="*/ 1699260 w 6667500"/>
              <a:gd name="csY1" fmla="*/ 434362 h 1348762"/>
              <a:gd name="csX2" fmla="*/ 3322320 w 6667500"/>
              <a:gd name="csY2" fmla="*/ 22 h 1348762"/>
              <a:gd name="csX3" fmla="*/ 4998720 w 6667500"/>
              <a:gd name="csY3" fmla="*/ 449602 h 1348762"/>
              <a:gd name="csX4" fmla="*/ 6667500 w 6667500"/>
              <a:gd name="csY4" fmla="*/ 1348762 h 1348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667500" h="1348762">
                <a:moveTo>
                  <a:pt x="0" y="1325902"/>
                </a:moveTo>
                <a:cubicBezTo>
                  <a:pt x="572770" y="990622"/>
                  <a:pt x="1145540" y="655342"/>
                  <a:pt x="1699260" y="434362"/>
                </a:cubicBezTo>
                <a:cubicBezTo>
                  <a:pt x="2252980" y="213382"/>
                  <a:pt x="2772410" y="-2518"/>
                  <a:pt x="3322320" y="22"/>
                </a:cubicBezTo>
                <a:cubicBezTo>
                  <a:pt x="3872230" y="2562"/>
                  <a:pt x="4441190" y="224812"/>
                  <a:pt x="4998720" y="449602"/>
                </a:cubicBezTo>
                <a:cubicBezTo>
                  <a:pt x="5556250" y="674392"/>
                  <a:pt x="6111875" y="1011577"/>
                  <a:pt x="6667500" y="1348762"/>
                </a:cubicBezTo>
              </a:path>
            </a:pathLst>
          </a:custGeom>
          <a:noFill/>
          <a:ln w="28575">
            <a:solidFill>
              <a:srgbClr val="3A0C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88EBD78-59B0-6E7B-15BB-C09C658386C2}"/>
              </a:ext>
            </a:extLst>
          </p:cNvPr>
          <p:cNvGrpSpPr/>
          <p:nvPr/>
        </p:nvGrpSpPr>
        <p:grpSpPr>
          <a:xfrm>
            <a:off x="920940" y="2711501"/>
            <a:ext cx="714375" cy="714375"/>
            <a:chOff x="928688" y="2066439"/>
            <a:chExt cx="714375" cy="714375"/>
          </a:xfrm>
        </p:grpSpPr>
        <p:sp>
          <p:nvSpPr>
            <p:cNvPr id="6" name="Shape 3"/>
            <p:cNvSpPr/>
            <p:nvPr/>
          </p:nvSpPr>
          <p:spPr>
            <a:xfrm>
              <a:off x="928688" y="2066439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432">
              <a:solidFill>
                <a:srgbClr val="1A1A1A"/>
              </a:solidFill>
              <a:prstDash val="solid"/>
            </a:ln>
          </p:spPr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5141" y="2280752"/>
              <a:ext cx="321469" cy="285750"/>
            </a:xfrm>
            <a:prstGeom prst="rect">
              <a:avLst/>
            </a:prstGeom>
          </p:spPr>
        </p:pic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169266E-A311-F289-130F-40ED004037BF}"/>
              </a:ext>
            </a:extLst>
          </p:cNvPr>
          <p:cNvGrpSpPr/>
          <p:nvPr/>
        </p:nvGrpSpPr>
        <p:grpSpPr>
          <a:xfrm>
            <a:off x="563752" y="3608041"/>
            <a:ext cx="1428750" cy="919758"/>
            <a:chOff x="571500" y="2895115"/>
            <a:chExt cx="1428750" cy="919758"/>
          </a:xfrm>
        </p:grpSpPr>
        <p:sp>
          <p:nvSpPr>
            <p:cNvPr id="8" name="Shape 4"/>
            <p:cNvSpPr/>
            <p:nvPr/>
          </p:nvSpPr>
          <p:spPr>
            <a:xfrm>
              <a:off x="571500" y="2895115"/>
              <a:ext cx="1428750" cy="9197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A1A1A"/>
              </a:solidFill>
              <a:prstDash val="solid"/>
            </a:ln>
          </p:spPr>
        </p:sp>
        <p:sp>
          <p:nvSpPr>
            <p:cNvPr id="9" name="Text 5"/>
            <p:cNvSpPr/>
            <p:nvPr/>
          </p:nvSpPr>
          <p:spPr>
            <a:xfrm>
              <a:off x="685800" y="3009414"/>
              <a:ext cx="1200150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1. Diagnostic</a:t>
              </a:r>
              <a:endParaRPr lang="en-US" sz="885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685800" y="3221941"/>
              <a:ext cx="1200150" cy="450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Short tests pinpoint specific knowledge gaps and misconceptions.</a:t>
              </a:r>
              <a:endParaRPr lang="en-US" sz="727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432B5BE-7E23-019D-B5BA-76A6BD068009}"/>
              </a:ext>
            </a:extLst>
          </p:cNvPr>
          <p:cNvGrpSpPr/>
          <p:nvPr/>
        </p:nvGrpSpPr>
        <p:grpSpPr>
          <a:xfrm>
            <a:off x="2273195" y="2831158"/>
            <a:ext cx="1428750" cy="919758"/>
            <a:chOff x="2214563" y="2895114"/>
            <a:chExt cx="1428750" cy="919758"/>
          </a:xfrm>
        </p:grpSpPr>
        <p:sp>
          <p:nvSpPr>
            <p:cNvPr id="13" name="Shape 8"/>
            <p:cNvSpPr/>
            <p:nvPr/>
          </p:nvSpPr>
          <p:spPr>
            <a:xfrm>
              <a:off x="2214563" y="2895114"/>
              <a:ext cx="1428750" cy="9197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A1A1A"/>
              </a:solidFill>
              <a:prstDash val="solid"/>
            </a:ln>
          </p:spPr>
        </p:sp>
        <p:sp>
          <p:nvSpPr>
            <p:cNvPr id="14" name="Text 9"/>
            <p:cNvSpPr/>
            <p:nvPr/>
          </p:nvSpPr>
          <p:spPr>
            <a:xfrm>
              <a:off x="2328863" y="3009414"/>
              <a:ext cx="1200150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2. Roadmap</a:t>
              </a:r>
              <a:endParaRPr lang="en-US" sz="885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2328863" y="3221941"/>
              <a:ext cx="1200150" cy="450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Dynamic path generation tailored to student mastery levels.</a:t>
              </a:r>
              <a:endParaRPr lang="en-US" sz="727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275B354-F011-01EA-A3DF-F32AD066BCAE}"/>
              </a:ext>
            </a:extLst>
          </p:cNvPr>
          <p:cNvGrpSpPr/>
          <p:nvPr/>
        </p:nvGrpSpPr>
        <p:grpSpPr>
          <a:xfrm>
            <a:off x="4232670" y="1407874"/>
            <a:ext cx="714375" cy="714375"/>
            <a:chOff x="4214813" y="2066439"/>
            <a:chExt cx="714375" cy="714375"/>
          </a:xfrm>
        </p:grpSpPr>
        <p:sp>
          <p:nvSpPr>
            <p:cNvPr id="16" name="Shape 11"/>
            <p:cNvSpPr/>
            <p:nvPr/>
          </p:nvSpPr>
          <p:spPr>
            <a:xfrm>
              <a:off x="4214813" y="2066439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432">
              <a:solidFill>
                <a:srgbClr val="1A1A1A"/>
              </a:solidFill>
              <a:prstDash val="solid"/>
            </a:ln>
          </p:spPr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3406" y="2280752"/>
              <a:ext cx="357188" cy="285750"/>
            </a:xfrm>
            <a:prstGeom prst="rect">
              <a:avLst/>
            </a:prstGeom>
          </p:spPr>
        </p:pic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5A85B4F-112D-9E2A-B346-96C9EA73D18B}"/>
              </a:ext>
            </a:extLst>
          </p:cNvPr>
          <p:cNvGrpSpPr/>
          <p:nvPr/>
        </p:nvGrpSpPr>
        <p:grpSpPr>
          <a:xfrm>
            <a:off x="3875483" y="2332644"/>
            <a:ext cx="1428750" cy="919758"/>
            <a:chOff x="3857625" y="2895114"/>
            <a:chExt cx="1428750" cy="919758"/>
          </a:xfrm>
        </p:grpSpPr>
        <p:sp>
          <p:nvSpPr>
            <p:cNvPr id="18" name="Shape 12"/>
            <p:cNvSpPr/>
            <p:nvPr/>
          </p:nvSpPr>
          <p:spPr>
            <a:xfrm>
              <a:off x="3857625" y="2895114"/>
              <a:ext cx="1428750" cy="9197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A1A1A"/>
              </a:solidFill>
              <a:prstDash val="solid"/>
            </a:ln>
          </p:spPr>
        </p:sp>
        <p:sp>
          <p:nvSpPr>
            <p:cNvPr id="19" name="Text 13"/>
            <p:cNvSpPr/>
            <p:nvPr/>
          </p:nvSpPr>
          <p:spPr>
            <a:xfrm>
              <a:off x="3971925" y="3009414"/>
              <a:ext cx="1200150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3. Interaction</a:t>
              </a:r>
              <a:endParaRPr lang="en-US" sz="885" dirty="0"/>
            </a:p>
          </p:txBody>
        </p:sp>
        <p:sp>
          <p:nvSpPr>
            <p:cNvPr id="20" name="Text 14"/>
            <p:cNvSpPr/>
            <p:nvPr/>
          </p:nvSpPr>
          <p:spPr>
            <a:xfrm>
              <a:off x="3971925" y="3221941"/>
              <a:ext cx="1200150" cy="450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AI-student dialogue for reasoning-based problem solving.</a:t>
              </a:r>
              <a:endParaRPr lang="en-US" sz="727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59BF9C13-8CF1-D7C1-065B-3F419B114C94}"/>
              </a:ext>
            </a:extLst>
          </p:cNvPr>
          <p:cNvGrpSpPr/>
          <p:nvPr/>
        </p:nvGrpSpPr>
        <p:grpSpPr>
          <a:xfrm>
            <a:off x="5893591" y="1852126"/>
            <a:ext cx="714375" cy="714375"/>
            <a:chOff x="5857875" y="2066439"/>
            <a:chExt cx="714375" cy="714375"/>
          </a:xfrm>
        </p:grpSpPr>
        <p:sp>
          <p:nvSpPr>
            <p:cNvPr id="21" name="Shape 15"/>
            <p:cNvSpPr/>
            <p:nvPr/>
          </p:nvSpPr>
          <p:spPr>
            <a:xfrm>
              <a:off x="5857875" y="2066439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432">
              <a:solidFill>
                <a:srgbClr val="1A1A1A"/>
              </a:solidFill>
              <a:prstDash val="solid"/>
            </a:ln>
          </p:spPr>
        </p:sp>
        <p:pic>
          <p:nvPicPr>
            <p:cNvPr id="22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54328" y="2280752"/>
              <a:ext cx="321469" cy="285750"/>
            </a:xfrm>
            <a:prstGeom prst="rect">
              <a:avLst/>
            </a:prstGeom>
          </p:spPr>
        </p:pic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EBF21DF-A8AF-AC1D-85DB-217BB0E83104}"/>
              </a:ext>
            </a:extLst>
          </p:cNvPr>
          <p:cNvGrpSpPr/>
          <p:nvPr/>
        </p:nvGrpSpPr>
        <p:grpSpPr>
          <a:xfrm>
            <a:off x="5536404" y="2831158"/>
            <a:ext cx="1428750" cy="919758"/>
            <a:chOff x="5500688" y="2895114"/>
            <a:chExt cx="1428750" cy="919758"/>
          </a:xfrm>
        </p:grpSpPr>
        <p:sp>
          <p:nvSpPr>
            <p:cNvPr id="23" name="Shape 16"/>
            <p:cNvSpPr/>
            <p:nvPr/>
          </p:nvSpPr>
          <p:spPr>
            <a:xfrm>
              <a:off x="5500688" y="2895114"/>
              <a:ext cx="1428750" cy="9197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A1A1A"/>
              </a:solidFill>
              <a:prstDash val="solid"/>
            </a:ln>
          </p:spPr>
        </p:sp>
        <p:sp>
          <p:nvSpPr>
            <p:cNvPr id="24" name="Text 17"/>
            <p:cNvSpPr/>
            <p:nvPr/>
          </p:nvSpPr>
          <p:spPr>
            <a:xfrm>
              <a:off x="5614988" y="3009414"/>
              <a:ext cx="1200150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4. Monitoring</a:t>
              </a:r>
              <a:endParaRPr lang="en-US" sz="885" dirty="0"/>
            </a:p>
          </p:txBody>
        </p:sp>
        <p:sp>
          <p:nvSpPr>
            <p:cNvPr id="25" name="Text 18"/>
            <p:cNvSpPr/>
            <p:nvPr/>
          </p:nvSpPr>
          <p:spPr>
            <a:xfrm>
              <a:off x="5614988" y="3221941"/>
              <a:ext cx="1200150" cy="450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Real-time data visualization for parents and teachers.</a:t>
              </a:r>
              <a:endParaRPr lang="en-US" sz="727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B0FEC0A-7096-BC36-E73E-F44167E29CD1}"/>
              </a:ext>
            </a:extLst>
          </p:cNvPr>
          <p:cNvGrpSpPr/>
          <p:nvPr/>
        </p:nvGrpSpPr>
        <p:grpSpPr>
          <a:xfrm>
            <a:off x="7544401" y="2711501"/>
            <a:ext cx="714375" cy="714375"/>
            <a:chOff x="7500938" y="2066439"/>
            <a:chExt cx="714375" cy="714375"/>
          </a:xfrm>
        </p:grpSpPr>
        <p:sp>
          <p:nvSpPr>
            <p:cNvPr id="26" name="Shape 19"/>
            <p:cNvSpPr/>
            <p:nvPr/>
          </p:nvSpPr>
          <p:spPr>
            <a:xfrm>
              <a:off x="7500938" y="2066439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432">
              <a:solidFill>
                <a:srgbClr val="1A1A1A"/>
              </a:solidFill>
              <a:prstDash val="solid"/>
            </a:ln>
          </p:spPr>
        </p:sp>
        <p:pic>
          <p:nvPicPr>
            <p:cNvPr id="27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33109" y="2280752"/>
              <a:ext cx="250031" cy="285750"/>
            </a:xfrm>
            <a:prstGeom prst="rect">
              <a:avLst/>
            </a:prstGeom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A9AA901-E45A-2930-4913-D1012A8EEE4E}"/>
              </a:ext>
            </a:extLst>
          </p:cNvPr>
          <p:cNvGrpSpPr/>
          <p:nvPr/>
        </p:nvGrpSpPr>
        <p:grpSpPr>
          <a:xfrm>
            <a:off x="7187212" y="3608041"/>
            <a:ext cx="1428750" cy="919758"/>
            <a:chOff x="7143750" y="2895114"/>
            <a:chExt cx="1428750" cy="919758"/>
          </a:xfrm>
        </p:grpSpPr>
        <p:sp>
          <p:nvSpPr>
            <p:cNvPr id="28" name="Shape 20"/>
            <p:cNvSpPr/>
            <p:nvPr/>
          </p:nvSpPr>
          <p:spPr>
            <a:xfrm>
              <a:off x="7143750" y="2895114"/>
              <a:ext cx="1428750" cy="9197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1A1A1A"/>
              </a:solidFill>
              <a:prstDash val="solid"/>
            </a:ln>
          </p:spPr>
        </p:sp>
        <p:sp>
          <p:nvSpPr>
            <p:cNvPr id="29" name="Text 21"/>
            <p:cNvSpPr/>
            <p:nvPr/>
          </p:nvSpPr>
          <p:spPr>
            <a:xfrm>
              <a:off x="7258050" y="3009414"/>
              <a:ext cx="1200150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5. Intervention</a:t>
              </a:r>
              <a:endParaRPr lang="en-US" sz="885" dirty="0"/>
            </a:p>
          </p:txBody>
        </p:sp>
        <p:sp>
          <p:nvSpPr>
            <p:cNvPr id="30" name="Text 22"/>
            <p:cNvSpPr/>
            <p:nvPr/>
          </p:nvSpPr>
          <p:spPr>
            <a:xfrm>
              <a:off x="7258050" y="3221941"/>
              <a:ext cx="1200150" cy="4500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Automatic alerts triggered by detected linguistic distress.</a:t>
              </a:r>
              <a:endParaRPr lang="en-US" sz="727" dirty="0"/>
            </a:p>
          </p:txBody>
        </p:sp>
      </p:grpSp>
      <p:sp>
        <p:nvSpPr>
          <p:cNvPr id="32" name="矩形: 圆角 68">
            <a:extLst>
              <a:ext uri="{FF2B5EF4-FFF2-40B4-BE49-F238E27FC236}">
                <a16:creationId xmlns:a16="http://schemas.microsoft.com/office/drawing/2014/main" id="{BF9B28F1-9E6D-C0CC-0115-772352F0DDE9}"/>
              </a:ext>
            </a:extLst>
          </p:cNvPr>
          <p:cNvSpPr/>
          <p:nvPr/>
        </p:nvSpPr>
        <p:spPr>
          <a:xfrm>
            <a:off x="595375" y="425050"/>
            <a:ext cx="1365506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F579CB2-0879-468A-7DE8-CCCE0A7EBA01}"/>
              </a:ext>
            </a:extLst>
          </p:cNvPr>
          <p:cNvGrpSpPr/>
          <p:nvPr/>
        </p:nvGrpSpPr>
        <p:grpSpPr>
          <a:xfrm>
            <a:off x="2571749" y="1852127"/>
            <a:ext cx="714375" cy="714375"/>
            <a:chOff x="2571750" y="2066439"/>
            <a:chExt cx="714375" cy="714375"/>
          </a:xfrm>
        </p:grpSpPr>
        <p:sp>
          <p:nvSpPr>
            <p:cNvPr id="11" name="Shape 7"/>
            <p:cNvSpPr/>
            <p:nvPr/>
          </p:nvSpPr>
          <p:spPr>
            <a:xfrm>
              <a:off x="2571750" y="2066439"/>
              <a:ext cx="714375" cy="714375"/>
            </a:xfrm>
            <a:prstGeom prst="ellipse">
              <a:avLst/>
            </a:prstGeom>
            <a:solidFill>
              <a:srgbClr val="FFFFFF"/>
            </a:solidFill>
            <a:ln w="27432">
              <a:solidFill>
                <a:srgbClr val="1A1A1A"/>
              </a:solidFill>
              <a:prstDash val="solid"/>
            </a:ln>
          </p:spPr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86063" y="2280752"/>
              <a:ext cx="285750" cy="2857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566267" cy="25289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PROPOSITIONS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807244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Pillars of </a:t>
            </a:r>
            <a:r>
              <a:rPr lang="en-US" sz="2436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Differentiation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461595"/>
            <a:ext cx="2524116" cy="172878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747345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950" y="2204545"/>
            <a:ext cx="21812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Diagnostic Insights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742950" y="2476007"/>
            <a:ext cx="21812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Dialogue analysis reveals exactly </a:t>
            </a:r>
            <a:r>
              <a:rPr lang="en-US" sz="784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</a:t>
            </a: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logic breaks down, moving beyond simple score tracking.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309928" y="1461595"/>
            <a:ext cx="2524116" cy="172878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675" y="1747345"/>
            <a:ext cx="250031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81378" y="2204545"/>
            <a:ext cx="21812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Contextualized Mastery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3481378" y="2476007"/>
            <a:ext cx="21812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localization and relatable references make complex academic concepts "sticky" and exam-ready.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6048356" y="1461595"/>
            <a:ext cx="2524144" cy="172878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103" y="1747345"/>
            <a:ext cx="250031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9806" y="2204545"/>
            <a:ext cx="21812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Invisible Safety Net</a:t>
            </a:r>
            <a:endParaRPr lang="en-US" sz="987" dirty="0"/>
          </a:p>
        </p:txBody>
      </p:sp>
      <p:sp>
        <p:nvSpPr>
          <p:cNvPr id="16" name="Text 10"/>
          <p:cNvSpPr/>
          <p:nvPr/>
        </p:nvSpPr>
        <p:spPr>
          <a:xfrm>
            <a:off x="6219806" y="2476007"/>
            <a:ext cx="21812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Pioneering early intervention by detecting linguistic distress markers and bridging students to counselors.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571500" y="3376120"/>
            <a:ext cx="3893344" cy="156672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253" y="3661870"/>
            <a:ext cx="150019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2950" y="3981910"/>
            <a:ext cx="35504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 Superpowers</a:t>
            </a:r>
            <a:endParaRPr lang="en-US" sz="987" dirty="0"/>
          </a:p>
        </p:txBody>
      </p:sp>
      <p:sp>
        <p:nvSpPr>
          <p:cNvPr id="20" name="Text 13"/>
          <p:cNvSpPr/>
          <p:nvPr/>
        </p:nvSpPr>
        <p:spPr>
          <a:xfrm>
            <a:off x="742950" y="4253372"/>
            <a:ext cx="35504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Proactive, data-driven identification of who is struggling and exactly why, enabling highly targeted 1-on-1 support in crowded classrooms.</a:t>
            </a:r>
            <a:endParaRPr lang="en-US" sz="834" dirty="0"/>
          </a:p>
        </p:txBody>
      </p:sp>
      <p:sp>
        <p:nvSpPr>
          <p:cNvPr id="21" name="Shape 14"/>
          <p:cNvSpPr/>
          <p:nvPr/>
        </p:nvSpPr>
        <p:spPr>
          <a:xfrm>
            <a:off x="4679156" y="3376120"/>
            <a:ext cx="3893344" cy="156672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906" y="3661870"/>
            <a:ext cx="200025" cy="2000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850606" y="3998491"/>
            <a:ext cx="35504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Non-Punitive Environment</a:t>
            </a:r>
            <a:endParaRPr lang="en-US" sz="987" dirty="0"/>
          </a:p>
        </p:txBody>
      </p:sp>
      <p:sp>
        <p:nvSpPr>
          <p:cNvPr id="24" name="Text 16"/>
          <p:cNvSpPr/>
          <p:nvPr/>
        </p:nvSpPr>
        <p:spPr>
          <a:xfrm>
            <a:off x="4850606" y="4269953"/>
            <a:ext cx="35504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safe-to-fail AI persona reduces academic shame, encouraging students to persist through difficult subjects they might otherwise abandon.</a:t>
            </a:r>
            <a:endParaRPr lang="en-US" sz="834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395EE3F0-ECDB-89C0-62D4-2971A35D601E}"/>
              </a:ext>
            </a:extLst>
          </p:cNvPr>
          <p:cNvSpPr/>
          <p:nvPr/>
        </p:nvSpPr>
        <p:spPr>
          <a:xfrm>
            <a:off x="751284" y="1644951"/>
            <a:ext cx="408384" cy="408384"/>
          </a:xfrm>
          <a:prstGeom prst="ellipse">
            <a:avLst/>
          </a:prstGeom>
          <a:noFill/>
          <a:ln>
            <a:solidFill>
              <a:srgbClr val="4361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1239E71-2BDA-390C-69F7-699F4B27F069}"/>
              </a:ext>
            </a:extLst>
          </p:cNvPr>
          <p:cNvSpPr/>
          <p:nvPr/>
        </p:nvSpPr>
        <p:spPr>
          <a:xfrm>
            <a:off x="751284" y="3557794"/>
            <a:ext cx="408384" cy="408384"/>
          </a:xfrm>
          <a:prstGeom prst="ellipse">
            <a:avLst/>
          </a:prstGeom>
          <a:noFill/>
          <a:ln>
            <a:solidFill>
              <a:srgbClr val="4361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FA736BD-780C-6F9A-4632-CC1DC9B1FDF8}"/>
              </a:ext>
            </a:extLst>
          </p:cNvPr>
          <p:cNvSpPr/>
          <p:nvPr/>
        </p:nvSpPr>
        <p:spPr>
          <a:xfrm>
            <a:off x="3491498" y="1644951"/>
            <a:ext cx="408384" cy="408384"/>
          </a:xfrm>
          <a:prstGeom prst="ellipse">
            <a:avLst/>
          </a:prstGeom>
          <a:noFill/>
          <a:ln>
            <a:solidFill>
              <a:srgbClr val="4361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3EBE3BBB-D292-BDFB-91FD-6D104158E312}"/>
              </a:ext>
            </a:extLst>
          </p:cNvPr>
          <p:cNvSpPr/>
          <p:nvPr/>
        </p:nvSpPr>
        <p:spPr>
          <a:xfrm>
            <a:off x="6229926" y="1644951"/>
            <a:ext cx="408384" cy="408384"/>
          </a:xfrm>
          <a:prstGeom prst="ellipse">
            <a:avLst/>
          </a:prstGeom>
          <a:noFill/>
          <a:ln>
            <a:solidFill>
              <a:srgbClr val="4361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BF1D605-51F2-AE9F-BD3B-58AA6F9EF175}"/>
              </a:ext>
            </a:extLst>
          </p:cNvPr>
          <p:cNvSpPr/>
          <p:nvPr/>
        </p:nvSpPr>
        <p:spPr>
          <a:xfrm>
            <a:off x="4860726" y="3554365"/>
            <a:ext cx="408384" cy="408384"/>
          </a:xfrm>
          <a:prstGeom prst="ellipse">
            <a:avLst/>
          </a:prstGeom>
          <a:noFill/>
          <a:ln>
            <a:solidFill>
              <a:srgbClr val="4361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68">
            <a:extLst>
              <a:ext uri="{FF2B5EF4-FFF2-40B4-BE49-F238E27FC236}">
                <a16:creationId xmlns:a16="http://schemas.microsoft.com/office/drawing/2014/main" id="{261E911D-21D4-9762-52F1-5CFADAF27338}"/>
              </a:ext>
            </a:extLst>
          </p:cNvPr>
          <p:cNvSpPr/>
          <p:nvPr/>
        </p:nvSpPr>
        <p:spPr>
          <a:xfrm>
            <a:off x="595375" y="427037"/>
            <a:ext cx="1355346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D60141DF-B382-9DD1-D2D9-DEC0AC419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3B4E9C42-D3FA-751D-AACE-367C91D93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1896"/>
            <a:ext cx="6272028" cy="51553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4034" y="407093"/>
            <a:ext cx="969764" cy="25289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NOW?</a:t>
            </a:r>
            <a:endParaRPr lang="en-US" sz="900" dirty="0"/>
          </a:p>
        </p:txBody>
      </p:sp>
      <p:sp>
        <p:nvSpPr>
          <p:cNvPr id="29" name="矩形: 圆角 68">
            <a:extLst>
              <a:ext uri="{FF2B5EF4-FFF2-40B4-BE49-F238E27FC236}">
                <a16:creationId xmlns:a16="http://schemas.microsoft.com/office/drawing/2014/main" id="{C0829C6B-A193-72FE-860F-D614C31D29A5}"/>
              </a:ext>
            </a:extLst>
          </p:cNvPr>
          <p:cNvSpPr/>
          <p:nvPr/>
        </p:nvSpPr>
        <p:spPr>
          <a:xfrm>
            <a:off x="427849" y="408706"/>
            <a:ext cx="833375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15582" y="995077"/>
            <a:ext cx="1891284" cy="1166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Macro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Tailwinds Converging</a:t>
            </a:r>
            <a:endParaRPr lang="en-US" sz="2800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216F2CC2-D0C0-7945-256A-9A1CEE21253D}"/>
              </a:ext>
            </a:extLst>
          </p:cNvPr>
          <p:cNvGrpSpPr/>
          <p:nvPr/>
        </p:nvGrpSpPr>
        <p:grpSpPr>
          <a:xfrm>
            <a:off x="6572157" y="186059"/>
            <a:ext cx="2143125" cy="815776"/>
            <a:chOff x="3500438" y="1298712"/>
            <a:chExt cx="2143125" cy="815776"/>
          </a:xfrm>
        </p:grpSpPr>
        <p:sp>
          <p:nvSpPr>
            <p:cNvPr id="48" name="Shape 5">
              <a:extLst>
                <a:ext uri="{FF2B5EF4-FFF2-40B4-BE49-F238E27FC236}">
                  <a16:creationId xmlns:a16="http://schemas.microsoft.com/office/drawing/2014/main" id="{BCDB7377-FAA4-817C-9027-93C85036A013}"/>
                </a:ext>
              </a:extLst>
            </p:cNvPr>
            <p:cNvSpPr/>
            <p:nvPr/>
          </p:nvSpPr>
          <p:spPr>
            <a:xfrm>
              <a:off x="3500438" y="1298712"/>
              <a:ext cx="2143125" cy="815776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1A1A1A"/>
              </a:solidFill>
              <a:prstDash val="solid"/>
            </a:ln>
          </p:spPr>
        </p:sp>
        <p:pic>
          <p:nvPicPr>
            <p:cNvPr id="49" name="Image 1" descr="preencoded.png">
              <a:extLst>
                <a:ext uri="{FF2B5EF4-FFF2-40B4-BE49-F238E27FC236}">
                  <a16:creationId xmlns:a16="http://schemas.microsoft.com/office/drawing/2014/main" id="{F77B7F6E-6BEB-C3C0-DA03-9C2C57FCD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14738" y="1426406"/>
              <a:ext cx="160734" cy="128588"/>
            </a:xfrm>
            <a:prstGeom prst="rect">
              <a:avLst/>
            </a:prstGeom>
          </p:spPr>
        </p:pic>
        <p:sp>
          <p:nvSpPr>
            <p:cNvPr id="50" name="Text 6">
              <a:extLst>
                <a:ext uri="{FF2B5EF4-FFF2-40B4-BE49-F238E27FC236}">
                  <a16:creationId xmlns:a16="http://schemas.microsoft.com/office/drawing/2014/main" id="{B5294A8D-9C84-D1BF-CA52-88675227F3D8}"/>
                </a:ext>
              </a:extLst>
            </p:cNvPr>
            <p:cNvSpPr/>
            <p:nvPr/>
          </p:nvSpPr>
          <p:spPr>
            <a:xfrm>
              <a:off x="3846909" y="1413011"/>
              <a:ext cx="1259086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Non-Judgmental AI</a:t>
              </a:r>
              <a:endParaRPr lang="en-US" sz="885" dirty="0"/>
            </a:p>
          </p:txBody>
        </p:sp>
        <p:sp>
          <p:nvSpPr>
            <p:cNvPr id="51" name="Text 7">
              <a:extLst>
                <a:ext uri="{FF2B5EF4-FFF2-40B4-BE49-F238E27FC236}">
                  <a16:creationId xmlns:a16="http://schemas.microsoft.com/office/drawing/2014/main" id="{C256309B-2F79-ADC1-BF10-32AF502D4404}"/>
                </a:ext>
              </a:extLst>
            </p:cNvPr>
            <p:cNvSpPr/>
            <p:nvPr/>
          </p:nvSpPr>
          <p:spPr>
            <a:xfrm>
              <a:off x="3614738" y="1625538"/>
              <a:ext cx="1914525" cy="420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LLMs create a psychologically safe space for reserved learners to ask questions without fear of judgment.</a:t>
              </a:r>
              <a:endParaRPr lang="en-US" sz="727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05984A3-6447-B39D-A890-387A66CED583}"/>
              </a:ext>
            </a:extLst>
          </p:cNvPr>
          <p:cNvGrpSpPr/>
          <p:nvPr/>
        </p:nvGrpSpPr>
        <p:grpSpPr>
          <a:xfrm>
            <a:off x="6572157" y="2190623"/>
            <a:ext cx="2143125" cy="815776"/>
            <a:chOff x="6429375" y="2013086"/>
            <a:chExt cx="2143125" cy="815776"/>
          </a:xfrm>
        </p:grpSpPr>
        <p:sp>
          <p:nvSpPr>
            <p:cNvPr id="53" name="Shape 11">
              <a:extLst>
                <a:ext uri="{FF2B5EF4-FFF2-40B4-BE49-F238E27FC236}">
                  <a16:creationId xmlns:a16="http://schemas.microsoft.com/office/drawing/2014/main" id="{BD25B248-54D8-4A1E-58BF-F312BBDAD90A}"/>
                </a:ext>
              </a:extLst>
            </p:cNvPr>
            <p:cNvSpPr/>
            <p:nvPr/>
          </p:nvSpPr>
          <p:spPr>
            <a:xfrm>
              <a:off x="6429375" y="2013086"/>
              <a:ext cx="2143125" cy="815776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1A1A1A"/>
              </a:solidFill>
              <a:prstDash val="solid"/>
            </a:ln>
          </p:spPr>
        </p:sp>
        <p:pic>
          <p:nvPicPr>
            <p:cNvPr id="54" name="Image 3" descr="preencoded.png">
              <a:extLst>
                <a:ext uri="{FF2B5EF4-FFF2-40B4-BE49-F238E27FC236}">
                  <a16:creationId xmlns:a16="http://schemas.microsoft.com/office/drawing/2014/main" id="{5F45942C-EB17-E7FB-546C-CC223FB86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3675" y="2140781"/>
              <a:ext cx="144661" cy="128588"/>
            </a:xfrm>
            <a:prstGeom prst="rect">
              <a:avLst/>
            </a:prstGeom>
          </p:spPr>
        </p:pic>
        <p:sp>
          <p:nvSpPr>
            <p:cNvPr id="55" name="Text 12">
              <a:extLst>
                <a:ext uri="{FF2B5EF4-FFF2-40B4-BE49-F238E27FC236}">
                  <a16:creationId xmlns:a16="http://schemas.microsoft.com/office/drawing/2014/main" id="{41A10497-E5FB-B508-6C41-82806B7767B4}"/>
                </a:ext>
              </a:extLst>
            </p:cNvPr>
            <p:cNvSpPr/>
            <p:nvPr/>
          </p:nvSpPr>
          <p:spPr>
            <a:xfrm>
              <a:off x="6759773" y="2127386"/>
              <a:ext cx="1225153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Zero Marginal Cost</a:t>
              </a:r>
              <a:endParaRPr lang="en-US" sz="885" dirty="0"/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799BAF34-C79D-4733-DBA8-84A669F15148}"/>
                </a:ext>
              </a:extLst>
            </p:cNvPr>
            <p:cNvSpPr/>
            <p:nvPr/>
          </p:nvSpPr>
          <p:spPr>
            <a:xfrm>
              <a:off x="6543675" y="2339913"/>
              <a:ext cx="1914525" cy="420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Elite 1-on-1 personalized tutoring expertise is now accessible at near-zero incremental cost.</a:t>
              </a:r>
              <a:endParaRPr lang="en-US" sz="727" dirty="0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4834299D-C701-0A42-AB4D-1B0DE55DE496}"/>
              </a:ext>
            </a:extLst>
          </p:cNvPr>
          <p:cNvGrpSpPr/>
          <p:nvPr/>
        </p:nvGrpSpPr>
        <p:grpSpPr>
          <a:xfrm>
            <a:off x="6572157" y="4191352"/>
            <a:ext cx="2143125" cy="811941"/>
            <a:chOff x="5572125" y="3980883"/>
            <a:chExt cx="2143125" cy="811941"/>
          </a:xfrm>
        </p:grpSpPr>
        <p:sp>
          <p:nvSpPr>
            <p:cNvPr id="58" name="Shape 17">
              <a:extLst>
                <a:ext uri="{FF2B5EF4-FFF2-40B4-BE49-F238E27FC236}">
                  <a16:creationId xmlns:a16="http://schemas.microsoft.com/office/drawing/2014/main" id="{26C39F1B-585A-D3B1-82E2-6DA654B3D287}"/>
                </a:ext>
              </a:extLst>
            </p:cNvPr>
            <p:cNvSpPr/>
            <p:nvPr/>
          </p:nvSpPr>
          <p:spPr>
            <a:xfrm>
              <a:off x="5572125" y="3980883"/>
              <a:ext cx="2143125" cy="811941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1A1A1A"/>
              </a:solidFill>
              <a:prstDash val="solid"/>
            </a:ln>
          </p:spPr>
        </p:sp>
        <p:pic>
          <p:nvPicPr>
            <p:cNvPr id="59" name="Image 5" descr="preencoded.png">
              <a:extLst>
                <a:ext uri="{FF2B5EF4-FFF2-40B4-BE49-F238E27FC236}">
                  <a16:creationId xmlns:a16="http://schemas.microsoft.com/office/drawing/2014/main" id="{B30F8148-1FB6-97DC-67D9-F9F6E2C00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86425" y="4137152"/>
              <a:ext cx="160734" cy="128588"/>
            </a:xfrm>
            <a:prstGeom prst="rect">
              <a:avLst/>
            </a:prstGeom>
          </p:spPr>
        </p:pic>
        <p:sp>
          <p:nvSpPr>
            <p:cNvPr id="60" name="Text 18">
              <a:extLst>
                <a:ext uri="{FF2B5EF4-FFF2-40B4-BE49-F238E27FC236}">
                  <a16:creationId xmlns:a16="http://schemas.microsoft.com/office/drawing/2014/main" id="{68797F9E-0F7B-CE61-F668-4E8293DE6BEB}"/>
                </a:ext>
              </a:extLst>
            </p:cNvPr>
            <p:cNvSpPr/>
            <p:nvPr/>
          </p:nvSpPr>
          <p:spPr>
            <a:xfrm>
              <a:off x="5918597" y="4123758"/>
              <a:ext cx="1160859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Reducing Burnout</a:t>
              </a:r>
              <a:endParaRPr lang="en-US" sz="885" dirty="0"/>
            </a:p>
          </p:txBody>
        </p:sp>
        <p:sp>
          <p:nvSpPr>
            <p:cNvPr id="61" name="Text 19">
              <a:extLst>
                <a:ext uri="{FF2B5EF4-FFF2-40B4-BE49-F238E27FC236}">
                  <a16:creationId xmlns:a16="http://schemas.microsoft.com/office/drawing/2014/main" id="{1173BC9D-DEF4-D4BC-D1E4-0F98D1C7CC48}"/>
                </a:ext>
              </a:extLst>
            </p:cNvPr>
            <p:cNvSpPr/>
            <p:nvPr/>
          </p:nvSpPr>
          <p:spPr>
            <a:xfrm>
              <a:off x="5686425" y="4336284"/>
              <a:ext cx="1914525" cy="420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Automating grading and reporting empowers teachers to refocus on high-impact mentorship.</a:t>
              </a:r>
              <a:endParaRPr lang="en-US" sz="727" dirty="0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55811E6B-CC06-DF38-8757-D020DC47BCAA}"/>
              </a:ext>
            </a:extLst>
          </p:cNvPr>
          <p:cNvGrpSpPr/>
          <p:nvPr/>
        </p:nvGrpSpPr>
        <p:grpSpPr>
          <a:xfrm>
            <a:off x="6572157" y="3189247"/>
            <a:ext cx="2143125" cy="811941"/>
            <a:chOff x="1428750" y="3977225"/>
            <a:chExt cx="2143125" cy="811941"/>
          </a:xfrm>
        </p:grpSpPr>
        <p:sp>
          <p:nvSpPr>
            <p:cNvPr id="63" name="Shape 14">
              <a:extLst>
                <a:ext uri="{FF2B5EF4-FFF2-40B4-BE49-F238E27FC236}">
                  <a16:creationId xmlns:a16="http://schemas.microsoft.com/office/drawing/2014/main" id="{DBE1136B-084A-0DED-2890-D5916D15B42E}"/>
                </a:ext>
              </a:extLst>
            </p:cNvPr>
            <p:cNvSpPr/>
            <p:nvPr/>
          </p:nvSpPr>
          <p:spPr>
            <a:xfrm>
              <a:off x="1428750" y="3977225"/>
              <a:ext cx="2143125" cy="811941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1A1A1A"/>
              </a:solidFill>
              <a:prstDash val="solid"/>
            </a:ln>
          </p:spPr>
        </p:sp>
        <p:pic>
          <p:nvPicPr>
            <p:cNvPr id="64" name="Image 4" descr="preencoded.png">
              <a:extLst>
                <a:ext uri="{FF2B5EF4-FFF2-40B4-BE49-F238E27FC236}">
                  <a16:creationId xmlns:a16="http://schemas.microsoft.com/office/drawing/2014/main" id="{C91E7DF2-D527-CE26-DE4B-7F5629E97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43050" y="4137152"/>
              <a:ext cx="144661" cy="128588"/>
            </a:xfrm>
            <a:prstGeom prst="rect">
              <a:avLst/>
            </a:prstGeom>
          </p:spPr>
        </p:pic>
        <p:sp>
          <p:nvSpPr>
            <p:cNvPr id="65" name="Text 15">
              <a:extLst>
                <a:ext uri="{FF2B5EF4-FFF2-40B4-BE49-F238E27FC236}">
                  <a16:creationId xmlns:a16="http://schemas.microsoft.com/office/drawing/2014/main" id="{54591EEC-0BFA-3623-5F57-16083FA84FD5}"/>
                </a:ext>
              </a:extLst>
            </p:cNvPr>
            <p:cNvSpPr/>
            <p:nvPr/>
          </p:nvSpPr>
          <p:spPr>
            <a:xfrm>
              <a:off x="1759148" y="4123758"/>
              <a:ext cx="1325166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Multimodal Maturity</a:t>
              </a:r>
              <a:endParaRPr lang="en-US" sz="885" dirty="0"/>
            </a:p>
          </p:txBody>
        </p:sp>
        <p:sp>
          <p:nvSpPr>
            <p:cNvPr id="66" name="Text 16">
              <a:extLst>
                <a:ext uri="{FF2B5EF4-FFF2-40B4-BE49-F238E27FC236}">
                  <a16:creationId xmlns:a16="http://schemas.microsoft.com/office/drawing/2014/main" id="{4C47C01B-911B-4064-43F9-95072941F45E}"/>
                </a:ext>
              </a:extLst>
            </p:cNvPr>
            <p:cNvSpPr/>
            <p:nvPr/>
          </p:nvSpPr>
          <p:spPr>
            <a:xfrm>
              <a:off x="1543050" y="4317994"/>
              <a:ext cx="1914525" cy="420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AI can now "see" sketches and "hear" emotional cues, intervening like a human mentor would.</a:t>
              </a:r>
              <a:endParaRPr lang="en-US" sz="727" dirty="0"/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E0E12C01-77A8-C3A8-94E5-768EEF49CF8C}"/>
              </a:ext>
            </a:extLst>
          </p:cNvPr>
          <p:cNvGrpSpPr/>
          <p:nvPr/>
        </p:nvGrpSpPr>
        <p:grpSpPr>
          <a:xfrm>
            <a:off x="6572157" y="1188341"/>
            <a:ext cx="2143125" cy="815776"/>
            <a:chOff x="571500" y="2013086"/>
            <a:chExt cx="2143125" cy="815776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4B475BB5-2A45-7769-00C4-A4BBEC7208E5}"/>
                </a:ext>
              </a:extLst>
            </p:cNvPr>
            <p:cNvSpPr/>
            <p:nvPr/>
          </p:nvSpPr>
          <p:spPr>
            <a:xfrm>
              <a:off x="571500" y="2013086"/>
              <a:ext cx="2143125" cy="815776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1A1A1A"/>
              </a:solidFill>
              <a:prstDash val="solid"/>
            </a:ln>
          </p:spPr>
        </p:sp>
        <p:pic>
          <p:nvPicPr>
            <p:cNvPr id="69" name="Image 2" descr="preencoded.png">
              <a:extLst>
                <a:ext uri="{FF2B5EF4-FFF2-40B4-BE49-F238E27FC236}">
                  <a16:creationId xmlns:a16="http://schemas.microsoft.com/office/drawing/2014/main" id="{9725D097-E24D-F166-90E5-F4F2E84ED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5800" y="2140781"/>
              <a:ext cx="144661" cy="128588"/>
            </a:xfrm>
            <a:prstGeom prst="rect">
              <a:avLst/>
            </a:prstGeom>
          </p:spPr>
        </p:pic>
        <p:sp>
          <p:nvSpPr>
            <p:cNvPr id="70" name="Text 9">
              <a:extLst>
                <a:ext uri="{FF2B5EF4-FFF2-40B4-BE49-F238E27FC236}">
                  <a16:creationId xmlns:a16="http://schemas.microsoft.com/office/drawing/2014/main" id="{617B58E6-60B0-C258-A6F6-424FE545136B}"/>
                </a:ext>
              </a:extLst>
            </p:cNvPr>
            <p:cNvSpPr/>
            <p:nvPr/>
          </p:nvSpPr>
          <p:spPr>
            <a:xfrm>
              <a:off x="901898" y="2127386"/>
              <a:ext cx="1505545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Reasoning Over Search</a:t>
              </a:r>
              <a:endParaRPr lang="en-US" sz="885" dirty="0"/>
            </a:p>
          </p:txBody>
        </p:sp>
        <p:sp>
          <p:nvSpPr>
            <p:cNvPr id="71" name="Text 10">
              <a:extLst>
                <a:ext uri="{FF2B5EF4-FFF2-40B4-BE49-F238E27FC236}">
                  <a16:creationId xmlns:a16="http://schemas.microsoft.com/office/drawing/2014/main" id="{1F309D11-843C-C39A-599C-983DB7B99F6E}"/>
                </a:ext>
              </a:extLst>
            </p:cNvPr>
            <p:cNvSpPr/>
            <p:nvPr/>
          </p:nvSpPr>
          <p:spPr>
            <a:xfrm>
              <a:off x="685800" y="2339913"/>
              <a:ext cx="1914525" cy="420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727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The shift to LLM-powered reasoning allows AI to guide students through the logic of solving problems.</a:t>
              </a:r>
              <a:endParaRPr lang="en-US" sz="727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685925" cy="25289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RESOURCES &amp; DATA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778669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</a:t>
            </a:r>
            <a:r>
              <a:rPr lang="en-US" sz="2436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Moat</a:t>
            </a: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Making</a:t>
            </a:r>
            <a:endParaRPr lang="en-US" sz="243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54438"/>
            <a:ext cx="175022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247" y="1333007"/>
            <a:ext cx="240923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Data Assets</a:t>
            </a:r>
            <a:endParaRPr lang="en-US" sz="1397" dirty="0"/>
          </a:p>
        </p:txBody>
      </p:sp>
      <p:sp>
        <p:nvSpPr>
          <p:cNvPr id="7" name="Shape 3"/>
          <p:cNvSpPr/>
          <p:nvPr/>
        </p:nvSpPr>
        <p:spPr>
          <a:xfrm>
            <a:off x="581400" y="1835386"/>
            <a:ext cx="3914775" cy="57613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25" y="1949686"/>
            <a:ext cx="225028" cy="2000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7878" y="1921111"/>
            <a:ext cx="343257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Knowledge Graph</a:t>
            </a:r>
            <a:endParaRPr lang="en-US" sz="987" dirty="0"/>
          </a:p>
        </p:txBody>
      </p:sp>
      <p:sp>
        <p:nvSpPr>
          <p:cNvPr id="10" name="Text 5"/>
          <p:cNvSpPr/>
          <p:nvPr/>
        </p:nvSpPr>
        <p:spPr>
          <a:xfrm>
            <a:off x="977878" y="2137209"/>
            <a:ext cx="343257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Modeled from high-school curricula to capture student reasoning.</a:t>
            </a:r>
            <a:endParaRPr lang="en-US" sz="834" dirty="0"/>
          </a:p>
        </p:txBody>
      </p:sp>
      <p:sp>
        <p:nvSpPr>
          <p:cNvPr id="11" name="Shape 6"/>
          <p:cNvSpPr/>
          <p:nvPr/>
        </p:nvSpPr>
        <p:spPr>
          <a:xfrm>
            <a:off x="571500" y="2756734"/>
            <a:ext cx="3914775" cy="57613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2871034"/>
            <a:ext cx="225028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7978" y="2842459"/>
            <a:ext cx="256817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Textbook &amp; Exercise Dataset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967978" y="3058557"/>
            <a:ext cx="256817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Curated step-by-step problem-solving material.</a:t>
            </a:r>
            <a:endParaRPr lang="en-US" sz="834" dirty="0"/>
          </a:p>
        </p:txBody>
      </p:sp>
      <p:sp>
        <p:nvSpPr>
          <p:cNvPr id="15" name="Shape 9"/>
          <p:cNvSpPr/>
          <p:nvPr/>
        </p:nvSpPr>
        <p:spPr>
          <a:xfrm>
            <a:off x="571500" y="3754487"/>
            <a:ext cx="3914775" cy="57613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868787"/>
            <a:ext cx="200025" cy="2000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42975" y="3840212"/>
            <a:ext cx="33718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Behavior Feedback Loop</a:t>
            </a:r>
            <a:endParaRPr lang="en-US" sz="987" dirty="0"/>
          </a:p>
        </p:txBody>
      </p:sp>
      <p:sp>
        <p:nvSpPr>
          <p:cNvPr id="18" name="Text 11"/>
          <p:cNvSpPr/>
          <p:nvPr/>
        </p:nvSpPr>
        <p:spPr>
          <a:xfrm>
            <a:off x="942975" y="4056310"/>
            <a:ext cx="33718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Error-pattern analysis and interaction signals for model tuning.</a:t>
            </a:r>
            <a:endParaRPr lang="en-US" sz="834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725" y="1354438"/>
            <a:ext cx="200025" cy="20002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43475" y="1333007"/>
            <a:ext cx="23574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Compliance</a:t>
            </a:r>
            <a:endParaRPr lang="en-US" sz="1397" dirty="0"/>
          </a:p>
        </p:txBody>
      </p:sp>
      <p:sp>
        <p:nvSpPr>
          <p:cNvPr id="21" name="Shape 13"/>
          <p:cNvSpPr/>
          <p:nvPr/>
        </p:nvSpPr>
        <p:spPr>
          <a:xfrm>
            <a:off x="4657725" y="1661620"/>
            <a:ext cx="3914775" cy="127047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4"/>
          <p:cNvSpPr/>
          <p:nvPr/>
        </p:nvSpPr>
        <p:spPr>
          <a:xfrm>
            <a:off x="4657725" y="1661620"/>
            <a:ext cx="3914775" cy="31611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025" y="1748237"/>
            <a:ext cx="142875" cy="14287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000625" y="1733057"/>
            <a:ext cx="24967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Hong Kong (Compliance &amp; Privacy)</a:t>
            </a:r>
            <a:endParaRPr lang="en-US" sz="987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EA70D62-11F4-1361-354E-64A603F6D62C}"/>
              </a:ext>
            </a:extLst>
          </p:cNvPr>
          <p:cNvGrpSpPr/>
          <p:nvPr/>
        </p:nvGrpSpPr>
        <p:grpSpPr>
          <a:xfrm>
            <a:off x="4743450" y="2068227"/>
            <a:ext cx="4148138" cy="151580"/>
            <a:chOff x="4743450" y="2068226"/>
            <a:chExt cx="4148138" cy="211834"/>
          </a:xfrm>
        </p:grpSpPr>
        <p:pic>
          <p:nvPicPr>
            <p:cNvPr id="25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43450" y="2111377"/>
              <a:ext cx="100013" cy="139769"/>
            </a:xfrm>
            <a:prstGeom prst="rect">
              <a:avLst/>
            </a:prstGeom>
          </p:spPr>
        </p:pic>
        <p:sp>
          <p:nvSpPr>
            <p:cNvPr id="26" name="Text 16"/>
            <p:cNvSpPr/>
            <p:nvPr/>
          </p:nvSpPr>
          <p:spPr>
            <a:xfrm>
              <a:off x="4929188" y="2068226"/>
              <a:ext cx="1153716" cy="2118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784" b="1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PCPD Privacy Audit:</a:t>
              </a:r>
              <a:endParaRPr lang="en-US" sz="784" dirty="0"/>
            </a:p>
          </p:txBody>
        </p:sp>
        <p:sp>
          <p:nvSpPr>
            <p:cNvPr id="27" name="Text 17"/>
            <p:cNvSpPr/>
            <p:nvPr/>
          </p:nvSpPr>
          <p:spPr>
            <a:xfrm>
              <a:off x="6268783" y="2068226"/>
              <a:ext cx="2622805" cy="153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834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Alignment with AI Model Personal Data Framework.</a:t>
              </a:r>
              <a:endParaRPr lang="en-US" sz="834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59DAC9B-8953-C1A5-9F53-077F9D037C2F}"/>
              </a:ext>
            </a:extLst>
          </p:cNvPr>
          <p:cNvGrpSpPr/>
          <p:nvPr/>
        </p:nvGrpSpPr>
        <p:grpSpPr>
          <a:xfrm>
            <a:off x="4746348" y="2356648"/>
            <a:ext cx="3825160" cy="160009"/>
            <a:chOff x="4746348" y="2364679"/>
            <a:chExt cx="3825160" cy="160009"/>
          </a:xfrm>
        </p:grpSpPr>
        <p:pic>
          <p:nvPicPr>
            <p:cNvPr id="28" name="Image 8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46348" y="2394677"/>
              <a:ext cx="100013" cy="100013"/>
            </a:xfrm>
            <a:prstGeom prst="rect">
              <a:avLst/>
            </a:prstGeom>
          </p:spPr>
        </p:pic>
        <p:sp>
          <p:nvSpPr>
            <p:cNvPr id="29" name="Text 18"/>
            <p:cNvSpPr/>
            <p:nvPr/>
          </p:nvSpPr>
          <p:spPr>
            <a:xfrm>
              <a:off x="4932086" y="2364679"/>
              <a:ext cx="1089422" cy="1600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784" b="1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EdCity Integration:</a:t>
              </a:r>
              <a:endParaRPr lang="en-US" sz="784" dirty="0"/>
            </a:p>
          </p:txBody>
        </p:sp>
        <p:sp>
          <p:nvSpPr>
            <p:cNvPr id="30" name="Text 19"/>
            <p:cNvSpPr/>
            <p:nvPr/>
          </p:nvSpPr>
          <p:spPr>
            <a:xfrm>
              <a:off x="6253361" y="2364679"/>
              <a:ext cx="2318147" cy="1600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834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Technical gateway for local school access.</a:t>
              </a:r>
              <a:endParaRPr lang="en-US" sz="834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2DD2FE0D-8944-AEFD-1A63-343FB9F44EB3}"/>
              </a:ext>
            </a:extLst>
          </p:cNvPr>
          <p:cNvGrpSpPr/>
          <p:nvPr/>
        </p:nvGrpSpPr>
        <p:grpSpPr>
          <a:xfrm>
            <a:off x="4743450" y="2653498"/>
            <a:ext cx="3130471" cy="160009"/>
            <a:chOff x="4743450" y="2653498"/>
            <a:chExt cx="3130471" cy="160009"/>
          </a:xfrm>
        </p:grpSpPr>
        <p:pic>
          <p:nvPicPr>
            <p:cNvPr id="31" name="Image 9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43450" y="2683496"/>
              <a:ext cx="100013" cy="100013"/>
            </a:xfrm>
            <a:prstGeom prst="rect">
              <a:avLst/>
            </a:prstGeom>
          </p:spPr>
        </p:pic>
        <p:sp>
          <p:nvSpPr>
            <p:cNvPr id="32" name="Text 20"/>
            <p:cNvSpPr/>
            <p:nvPr/>
          </p:nvSpPr>
          <p:spPr>
            <a:xfrm>
              <a:off x="4929188" y="2653498"/>
              <a:ext cx="1884164" cy="1600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784" b="1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HKSTP/Cyberport Endorsement:</a:t>
              </a:r>
              <a:endParaRPr lang="en-US" sz="784" dirty="0"/>
            </a:p>
          </p:txBody>
        </p:sp>
        <p:sp>
          <p:nvSpPr>
            <p:cNvPr id="33" name="Text 21"/>
            <p:cNvSpPr/>
            <p:nvPr/>
          </p:nvSpPr>
          <p:spPr>
            <a:xfrm>
              <a:off x="6338015" y="2653498"/>
              <a:ext cx="1535906" cy="1600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300"/>
                </a:lnSpc>
                <a:buNone/>
              </a:pPr>
              <a:r>
                <a:rPr lang="en-US" sz="834" dirty="0">
                  <a:solidFill>
                    <a:srgbClr val="4A4A4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Official institutional backing.</a:t>
              </a:r>
              <a:endParaRPr lang="en-US" sz="834" dirty="0"/>
            </a:p>
          </p:txBody>
        </p:sp>
      </p:grpSp>
      <p:sp>
        <p:nvSpPr>
          <p:cNvPr id="34" name="Shape 22"/>
          <p:cNvSpPr/>
          <p:nvPr/>
        </p:nvSpPr>
        <p:spPr>
          <a:xfrm>
            <a:off x="4657725" y="2989241"/>
            <a:ext cx="3914775" cy="132762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23"/>
          <p:cNvSpPr/>
          <p:nvPr/>
        </p:nvSpPr>
        <p:spPr>
          <a:xfrm>
            <a:off x="4657725" y="2989241"/>
            <a:ext cx="3914775" cy="31611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2025" y="3075859"/>
            <a:ext cx="142875" cy="142875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5000625" y="3060678"/>
            <a:ext cx="223420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Mainland China (Pre-Approval)</a:t>
            </a:r>
            <a:endParaRPr lang="en-US" sz="987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450" y="3419652"/>
            <a:ext cx="100013" cy="100013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4929188" y="3391077"/>
            <a:ext cx="115371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ICP License &amp; Filing:</a:t>
            </a:r>
            <a:endParaRPr lang="en-US" sz="784" dirty="0"/>
          </a:p>
        </p:txBody>
      </p:sp>
      <p:sp>
        <p:nvSpPr>
          <p:cNvPr id="40" name="Text 26"/>
          <p:cNvSpPr/>
          <p:nvPr/>
        </p:nvSpPr>
        <p:spPr>
          <a:xfrm>
            <a:off x="6247209" y="3389653"/>
            <a:ext cx="169664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internet operation permit.</a:t>
            </a:r>
            <a:endParaRPr lang="en-US" sz="834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3450" y="3636811"/>
            <a:ext cx="100013" cy="100013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9188" y="3608236"/>
            <a:ext cx="158948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App Filing (MoE):</a:t>
            </a:r>
            <a:endParaRPr lang="en-US" sz="784" dirty="0"/>
          </a:p>
        </p:txBody>
      </p:sp>
      <p:sp>
        <p:nvSpPr>
          <p:cNvPr id="43" name="Text 28"/>
          <p:cNvSpPr/>
          <p:nvPr/>
        </p:nvSpPr>
        <p:spPr>
          <a:xfrm>
            <a:off x="6253361" y="3619909"/>
            <a:ext cx="153054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MoE registration.</a:t>
            </a:r>
            <a:endParaRPr lang="en-US" sz="834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43450" y="3853969"/>
            <a:ext cx="100013" cy="100013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4929188" y="3825394"/>
            <a:ext cx="147875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Algorithm Filing (CAC):</a:t>
            </a:r>
            <a:endParaRPr lang="en-US" sz="784" dirty="0"/>
          </a:p>
        </p:txBody>
      </p:sp>
      <p:sp>
        <p:nvSpPr>
          <p:cNvPr id="46" name="Text 30"/>
          <p:cNvSpPr/>
          <p:nvPr/>
        </p:nvSpPr>
        <p:spPr>
          <a:xfrm>
            <a:off x="6247209" y="3820468"/>
            <a:ext cx="141803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AI compliance.</a:t>
            </a:r>
            <a:endParaRPr lang="en-US" sz="834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43450" y="4071128"/>
            <a:ext cx="100013" cy="100013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4929188" y="4042553"/>
            <a:ext cx="79652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MLPS Level 3:</a:t>
            </a:r>
            <a:endParaRPr lang="en-US" sz="784" dirty="0"/>
          </a:p>
        </p:txBody>
      </p:sp>
      <p:sp>
        <p:nvSpPr>
          <p:cNvPr id="49" name="Text 32"/>
          <p:cNvSpPr/>
          <p:nvPr/>
        </p:nvSpPr>
        <p:spPr>
          <a:xfrm>
            <a:off x="6230049" y="4036299"/>
            <a:ext cx="211097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certification for schools.</a:t>
            </a:r>
            <a:endParaRPr lang="en-US" sz="834" dirty="0"/>
          </a:p>
        </p:txBody>
      </p:sp>
      <p:sp>
        <p:nvSpPr>
          <p:cNvPr id="53" name="矩形: 圆角 68">
            <a:extLst>
              <a:ext uri="{FF2B5EF4-FFF2-40B4-BE49-F238E27FC236}">
                <a16:creationId xmlns:a16="http://schemas.microsoft.com/office/drawing/2014/main" id="{A70E3C25-1B2D-0538-F140-3E524DFB1634}"/>
              </a:ext>
            </a:extLst>
          </p:cNvPr>
          <p:cNvSpPr/>
          <p:nvPr/>
        </p:nvSpPr>
        <p:spPr>
          <a:xfrm>
            <a:off x="595375" y="427037"/>
            <a:ext cx="1492506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266230" cy="25289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MODEL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778669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Diversified, Scalable, </a:t>
            </a:r>
            <a:r>
              <a:rPr lang="en-US" sz="2436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Sticky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361582"/>
            <a:ext cx="4697713" cy="78436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479454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5825" y="1464273"/>
            <a:ext cx="187344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Subscriptions &amp; Licensing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4783438" y="1447307"/>
            <a:ext cx="4000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657225" y="1711626"/>
            <a:ext cx="45262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K12 B2C Freemium (monthly premium for Roadmap Tracking &amp; AI tutoring) and B2B institutional SaaS licensing.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571500" y="2203093"/>
            <a:ext cx="4697713" cy="62435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320965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5825" y="2305785"/>
            <a:ext cx="20002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Certifications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4817371" y="2288818"/>
            <a:ext cx="36611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657225" y="2553137"/>
            <a:ext cx="45262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One-time fees for focused skill tracks (e.g., Python).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571500" y="2884596"/>
            <a:ext cx="4697713" cy="62435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3002468"/>
            <a:ext cx="178594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1544" y="2987287"/>
            <a:ext cx="216455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Affiliate Partnerships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4817371" y="2970321"/>
            <a:ext cx="36611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657225" y="3234640"/>
            <a:ext cx="45262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Commissions from recommending textbooks, courses, or hardware.</a:t>
            </a:r>
            <a:endParaRPr lang="en-US" sz="834" dirty="0"/>
          </a:p>
        </p:txBody>
      </p:sp>
      <p:sp>
        <p:nvSpPr>
          <p:cNvPr id="20" name="Shape 14"/>
          <p:cNvSpPr/>
          <p:nvPr/>
        </p:nvSpPr>
        <p:spPr>
          <a:xfrm>
            <a:off x="571500" y="3623249"/>
            <a:ext cx="4697713" cy="795412"/>
          </a:xfrm>
          <a:prstGeom prst="rect">
            <a:avLst/>
          </a:prstGeom>
          <a:solidFill>
            <a:srgbClr val="FFFFFF"/>
          </a:solidFill>
          <a:ln w="18288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5"/>
          <p:cNvSpPr/>
          <p:nvPr/>
        </p:nvSpPr>
        <p:spPr>
          <a:xfrm>
            <a:off x="657225" y="3708974"/>
            <a:ext cx="4526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Advantages</a:t>
            </a:r>
            <a:endParaRPr lang="en-US" sz="885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3942931"/>
            <a:ext cx="114300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8675" y="3921500"/>
            <a:ext cx="171092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Freemium-to-Premium funnel</a:t>
            </a:r>
            <a:endParaRPr lang="en-US" sz="784" dirty="0"/>
          </a:p>
        </p:txBody>
      </p:sp>
      <p:sp>
        <p:nvSpPr>
          <p:cNvPr id="24" name="Text 17"/>
          <p:cNvSpPr/>
          <p:nvPr/>
        </p:nvSpPr>
        <p:spPr>
          <a:xfrm>
            <a:off x="2596753" y="3921500"/>
            <a:ext cx="14573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low-friction acquisition.</a:t>
            </a:r>
            <a:endParaRPr lang="en-US" sz="834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134362"/>
            <a:ext cx="114300" cy="114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8675" y="4112930"/>
            <a:ext cx="121086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switching costs</a:t>
            </a:r>
            <a:endParaRPr lang="en-US" sz="784" dirty="0"/>
          </a:p>
        </p:txBody>
      </p:sp>
      <p:sp>
        <p:nvSpPr>
          <p:cNvPr id="27" name="Text 19"/>
          <p:cNvSpPr/>
          <p:nvPr/>
        </p:nvSpPr>
        <p:spPr>
          <a:xfrm>
            <a:off x="2096691" y="4112930"/>
            <a:ext cx="176093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verified learning history.</a:t>
            </a:r>
            <a:endParaRPr lang="en-US" sz="834" dirty="0"/>
          </a:p>
        </p:txBody>
      </p:sp>
      <p:sp>
        <p:nvSpPr>
          <p:cNvPr id="28" name="Shape 20"/>
          <p:cNvSpPr/>
          <p:nvPr/>
        </p:nvSpPr>
        <p:spPr>
          <a:xfrm>
            <a:off x="5440663" y="1361582"/>
            <a:ext cx="3131809" cy="302850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3538" y="1875709"/>
            <a:ext cx="2816423" cy="2000250"/>
          </a:xfrm>
          <a:prstGeom prst="rect">
            <a:avLst/>
          </a:prstGeom>
        </p:spPr>
      </p:pic>
      <p:sp>
        <p:nvSpPr>
          <p:cNvPr id="30" name="矩形: 圆角 68">
            <a:extLst>
              <a:ext uri="{FF2B5EF4-FFF2-40B4-BE49-F238E27FC236}">
                <a16:creationId xmlns:a16="http://schemas.microsoft.com/office/drawing/2014/main" id="{5C00CD38-7EC5-3D55-7A8E-6ED850BC8970}"/>
              </a:ext>
            </a:extLst>
          </p:cNvPr>
          <p:cNvSpPr/>
          <p:nvPr/>
        </p:nvSpPr>
        <p:spPr>
          <a:xfrm>
            <a:off x="595374" y="427037"/>
            <a:ext cx="1101345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234" y="-7728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99" y="428625"/>
            <a:ext cx="1871663" cy="25289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807244"/>
            <a:ext cx="800100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Own the </a:t>
            </a:r>
            <a:r>
              <a:rPr lang="en-US" sz="2436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Learning Arc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1433020"/>
            <a:ext cx="1798185" cy="291105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Fragmented Market</a:t>
            </a:r>
            <a:endParaRPr lang="en-US" sz="1400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BDF11E1-028F-5396-C50F-184A5B3F6C88}"/>
              </a:ext>
            </a:extLst>
          </p:cNvPr>
          <p:cNvGrpSpPr/>
          <p:nvPr/>
        </p:nvGrpSpPr>
        <p:grpSpPr>
          <a:xfrm>
            <a:off x="571500" y="1868788"/>
            <a:ext cx="1953816" cy="155377"/>
            <a:chOff x="571500" y="1868788"/>
            <a:chExt cx="1953816" cy="155377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" y="1896470"/>
              <a:ext cx="125016" cy="100013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753666" y="1868788"/>
              <a:ext cx="1771650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Khan Academy (Khanmigo)</a:t>
              </a:r>
              <a:endParaRPr lang="en-US" sz="885" dirty="0"/>
            </a:p>
          </p:txBody>
        </p:sp>
      </p:grpSp>
      <p:sp>
        <p:nvSpPr>
          <p:cNvPr id="8" name="Text 4"/>
          <p:cNvSpPr/>
          <p:nvPr/>
        </p:nvSpPr>
        <p:spPr>
          <a:xfrm>
            <a:off x="571500" y="2052740"/>
            <a:ext cx="3910013" cy="151452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K12 footprint, but </a:t>
            </a:r>
            <a:r>
              <a:rPr lang="en-US" sz="734" b="1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lacks career roadmaps and mental health layers.</a:t>
            </a:r>
            <a:endParaRPr lang="en-US" sz="780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A07EB81-433C-28AC-47BC-B358D2431EB2}"/>
              </a:ext>
            </a:extLst>
          </p:cNvPr>
          <p:cNvGrpSpPr/>
          <p:nvPr/>
        </p:nvGrpSpPr>
        <p:grpSpPr>
          <a:xfrm>
            <a:off x="571500" y="2494462"/>
            <a:ext cx="1066205" cy="155377"/>
            <a:chOff x="571500" y="2459934"/>
            <a:chExt cx="1066205" cy="155377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500" y="2487616"/>
              <a:ext cx="125016" cy="100013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753666" y="2459934"/>
              <a:ext cx="884039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Duolingo Max</a:t>
              </a:r>
              <a:endParaRPr lang="en-US" sz="885" dirty="0"/>
            </a:p>
          </p:txBody>
        </p:sp>
      </p:grpSp>
      <p:sp>
        <p:nvSpPr>
          <p:cNvPr id="11" name="Text 6"/>
          <p:cNvSpPr/>
          <p:nvPr/>
        </p:nvSpPr>
        <p:spPr>
          <a:xfrm>
            <a:off x="571500" y="2671452"/>
            <a:ext cx="3857625" cy="160734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standard gamification, but </a:t>
            </a:r>
            <a:r>
              <a:rPr lang="en-US" sz="734" b="1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 to language learning.</a:t>
            </a:r>
            <a:endParaRPr lang="en-US" sz="780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209BBE15-DE6E-E37A-7BB7-1E13A350F8EC}"/>
              </a:ext>
            </a:extLst>
          </p:cNvPr>
          <p:cNvGrpSpPr/>
          <p:nvPr/>
        </p:nvGrpSpPr>
        <p:grpSpPr>
          <a:xfrm>
            <a:off x="571500" y="3120136"/>
            <a:ext cx="1944886" cy="155377"/>
            <a:chOff x="571500" y="2890345"/>
            <a:chExt cx="1944886" cy="155377"/>
          </a:xfrm>
        </p:grpSpPr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500" y="2918027"/>
              <a:ext cx="125016" cy="100013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753666" y="2890345"/>
              <a:ext cx="1762720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Coursera / Udemy AI Coach</a:t>
              </a:r>
              <a:endParaRPr lang="en-US" sz="885" dirty="0"/>
            </a:p>
          </p:txBody>
        </p:sp>
      </p:grpSp>
      <p:sp>
        <p:nvSpPr>
          <p:cNvPr id="14" name="Text 8"/>
          <p:cNvSpPr/>
          <p:nvPr/>
        </p:nvSpPr>
        <p:spPr>
          <a:xfrm>
            <a:off x="571499" y="3299446"/>
            <a:ext cx="3857625" cy="160734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in occupational skills, but </a:t>
            </a:r>
            <a:r>
              <a:rPr lang="en-US" sz="734" b="1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K12 foundational entry point.</a:t>
            </a:r>
            <a:endParaRPr lang="en-US" sz="780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2683A7C-BBE9-E1F1-158F-888F6ABF9CBC}"/>
              </a:ext>
            </a:extLst>
          </p:cNvPr>
          <p:cNvGrpSpPr/>
          <p:nvPr/>
        </p:nvGrpSpPr>
        <p:grpSpPr>
          <a:xfrm>
            <a:off x="571500" y="3745810"/>
            <a:ext cx="1987748" cy="155377"/>
            <a:chOff x="571500" y="3320755"/>
            <a:chExt cx="1987748" cy="155377"/>
          </a:xfrm>
        </p:grpSpPr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1500" y="3348437"/>
              <a:ext cx="112514" cy="100013"/>
            </a:xfrm>
            <a:prstGeom prst="rect">
              <a:avLst/>
            </a:prstGeom>
          </p:spPr>
        </p:pic>
        <p:sp>
          <p:nvSpPr>
            <p:cNvPr id="16" name="Text 9"/>
            <p:cNvSpPr/>
            <p:nvPr/>
          </p:nvSpPr>
          <p:spPr>
            <a:xfrm>
              <a:off x="741164" y="3320755"/>
              <a:ext cx="1818084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Traditional Tutoring Centers</a:t>
              </a:r>
              <a:endParaRPr lang="en-US" sz="885" dirty="0"/>
            </a:p>
          </p:txBody>
        </p:sp>
      </p:grpSp>
      <p:sp>
        <p:nvSpPr>
          <p:cNvPr id="17" name="Text 10"/>
          <p:cNvSpPr/>
          <p:nvPr/>
        </p:nvSpPr>
        <p:spPr>
          <a:xfrm>
            <a:off x="571500" y="3927440"/>
            <a:ext cx="3857625" cy="160734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parental trust, but </a:t>
            </a:r>
            <a:r>
              <a:rPr lang="en-US" sz="734" b="1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cost and no real-time data roadmap.</a:t>
            </a:r>
            <a:endParaRPr lang="en-US" sz="780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55D458C-885F-60E5-837B-7C6B3D10FA98}"/>
              </a:ext>
            </a:extLst>
          </p:cNvPr>
          <p:cNvGrpSpPr/>
          <p:nvPr/>
        </p:nvGrpSpPr>
        <p:grpSpPr>
          <a:xfrm>
            <a:off x="571500" y="4371482"/>
            <a:ext cx="1823442" cy="155377"/>
            <a:chOff x="571500" y="4371482"/>
            <a:chExt cx="1823442" cy="155377"/>
          </a:xfrm>
        </p:grpSpPr>
        <p:pic>
          <p:nvPicPr>
            <p:cNvPr id="18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1500" y="4399164"/>
              <a:ext cx="87511" cy="100013"/>
            </a:xfrm>
            <a:prstGeom prst="rect">
              <a:avLst/>
            </a:prstGeom>
          </p:spPr>
        </p:pic>
        <p:sp>
          <p:nvSpPr>
            <p:cNvPr id="19" name="Text 11"/>
            <p:cNvSpPr/>
            <p:nvPr/>
          </p:nvSpPr>
          <p:spPr>
            <a:xfrm>
              <a:off x="716161" y="4371482"/>
              <a:ext cx="1678781" cy="1553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85" b="1" dirty="0">
                  <a:solidFill>
                    <a:srgbClr val="1A1A1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School Career Counselors</a:t>
              </a:r>
              <a:endParaRPr lang="en-US" sz="885" dirty="0"/>
            </a:p>
          </p:txBody>
        </p:sp>
      </p:grpSp>
      <p:sp>
        <p:nvSpPr>
          <p:cNvPr id="20" name="Text 12"/>
          <p:cNvSpPr/>
          <p:nvPr/>
        </p:nvSpPr>
        <p:spPr>
          <a:xfrm>
            <a:off x="571500" y="4555434"/>
            <a:ext cx="3857625" cy="160734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empathy, but </a:t>
            </a:r>
            <a:r>
              <a:rPr lang="en-US" sz="734" b="1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overworked and lack tech-driven mapping tools.</a:t>
            </a:r>
            <a:endParaRPr lang="en-US" sz="780" dirty="0"/>
          </a:p>
        </p:txBody>
      </p:sp>
      <p:sp>
        <p:nvSpPr>
          <p:cNvPr id="21" name="Text 13"/>
          <p:cNvSpPr/>
          <p:nvPr/>
        </p:nvSpPr>
        <p:spPr>
          <a:xfrm>
            <a:off x="4714875" y="1433020"/>
            <a:ext cx="1674305" cy="291105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Competitive Moat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4714875" y="1807828"/>
            <a:ext cx="3857625" cy="705445"/>
          </a:xfrm>
          <a:prstGeom prst="rect">
            <a:avLst/>
          </a:prstGeom>
          <a:solidFill>
            <a:srgbClr val="FFFFFF"/>
          </a:solidFill>
          <a:ln w="18288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1893553"/>
            <a:ext cx="214313" cy="1714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00638" y="1913729"/>
            <a:ext cx="33861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Transition</a:t>
            </a:r>
            <a:endParaRPr lang="en-US" sz="885" dirty="0"/>
          </a:p>
        </p:txBody>
      </p:sp>
      <p:sp>
        <p:nvSpPr>
          <p:cNvPr id="25" name="Text 16"/>
          <p:cNvSpPr/>
          <p:nvPr/>
        </p:nvSpPr>
        <p:spPr>
          <a:xfrm>
            <a:off x="5100638" y="2077505"/>
            <a:ext cx="338613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own learner data from age 10 to 25 — no competitor spans this entire developmental arc.</a:t>
            </a:r>
            <a:endParaRPr lang="en-US" sz="780" dirty="0"/>
          </a:p>
        </p:txBody>
      </p:sp>
      <p:sp>
        <p:nvSpPr>
          <p:cNvPr id="26" name="Shape 17"/>
          <p:cNvSpPr/>
          <p:nvPr/>
        </p:nvSpPr>
        <p:spPr>
          <a:xfrm>
            <a:off x="4714875" y="2571376"/>
            <a:ext cx="3857625" cy="705445"/>
          </a:xfrm>
          <a:prstGeom prst="rect">
            <a:avLst/>
          </a:prstGeom>
          <a:solidFill>
            <a:srgbClr val="FFFFFF"/>
          </a:solidFill>
          <a:ln w="18288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2657101"/>
            <a:ext cx="150019" cy="17145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36344" y="2657101"/>
            <a:ext cx="34504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Portability Lock-in</a:t>
            </a:r>
            <a:endParaRPr lang="en-US" sz="885" dirty="0"/>
          </a:p>
        </p:txBody>
      </p:sp>
      <p:sp>
        <p:nvSpPr>
          <p:cNvPr id="29" name="Text 19"/>
          <p:cNvSpPr/>
          <p:nvPr/>
        </p:nvSpPr>
        <p:spPr>
          <a:xfrm>
            <a:off x="5036344" y="2841053"/>
            <a:ext cx="3536156" cy="151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 of verified learning history create massive switching costs for users.</a:t>
            </a:r>
            <a:endParaRPr lang="en-US" sz="780" dirty="0"/>
          </a:p>
        </p:txBody>
      </p:sp>
      <p:sp>
        <p:nvSpPr>
          <p:cNvPr id="30" name="Shape 20"/>
          <p:cNvSpPr/>
          <p:nvPr/>
        </p:nvSpPr>
        <p:spPr>
          <a:xfrm>
            <a:off x="4714875" y="3334924"/>
            <a:ext cx="3857625" cy="705445"/>
          </a:xfrm>
          <a:prstGeom prst="rect">
            <a:avLst/>
          </a:prstGeom>
          <a:solidFill>
            <a:srgbClr val="FFFFFF"/>
          </a:solidFill>
          <a:ln w="18288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3420649"/>
            <a:ext cx="128588" cy="17145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014913" y="3420649"/>
            <a:ext cx="34718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Endorsement</a:t>
            </a:r>
            <a:endParaRPr lang="en-US" sz="885" dirty="0"/>
          </a:p>
        </p:txBody>
      </p:sp>
      <p:sp>
        <p:nvSpPr>
          <p:cNvPr id="33" name="Text 22"/>
          <p:cNvSpPr/>
          <p:nvPr/>
        </p:nvSpPr>
        <p:spPr>
          <a:xfrm>
            <a:off x="5014913" y="3604600"/>
            <a:ext cx="3519487" cy="151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roadmaps endorsed by tech companies create value-driven lock-in.</a:t>
            </a:r>
            <a:endParaRPr lang="en-US" sz="780" dirty="0"/>
          </a:p>
        </p:txBody>
      </p:sp>
      <p:sp>
        <p:nvSpPr>
          <p:cNvPr id="34" name="Shape 23"/>
          <p:cNvSpPr/>
          <p:nvPr/>
        </p:nvSpPr>
        <p:spPr>
          <a:xfrm>
            <a:off x="4714875" y="4098472"/>
            <a:ext cx="3857625" cy="705445"/>
          </a:xfrm>
          <a:prstGeom prst="rect">
            <a:avLst/>
          </a:prstGeom>
          <a:solidFill>
            <a:srgbClr val="FFFFFF"/>
          </a:solidFill>
          <a:ln w="18288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4184197"/>
            <a:ext cx="192881" cy="17145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079206" y="4184197"/>
            <a:ext cx="34075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 Health Integration</a:t>
            </a:r>
            <a:endParaRPr lang="en-US" sz="885" dirty="0"/>
          </a:p>
        </p:txBody>
      </p:sp>
      <p:sp>
        <p:nvSpPr>
          <p:cNvPr id="37" name="Text 25"/>
          <p:cNvSpPr/>
          <p:nvPr/>
        </p:nvSpPr>
        <p:spPr>
          <a:xfrm>
            <a:off x="5079206" y="4368148"/>
            <a:ext cx="3407569" cy="151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78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combining academic AI tutoring with emotional early-warning systems.</a:t>
            </a:r>
            <a:endParaRPr lang="en-US" sz="780" dirty="0"/>
          </a:p>
        </p:txBody>
      </p:sp>
      <p:sp>
        <p:nvSpPr>
          <p:cNvPr id="42" name="矩形: 圆角 68">
            <a:extLst>
              <a:ext uri="{FF2B5EF4-FFF2-40B4-BE49-F238E27FC236}">
                <a16:creationId xmlns:a16="http://schemas.microsoft.com/office/drawing/2014/main" id="{6AEB88D4-4212-1ECC-8053-D631A4F483B7}"/>
              </a:ext>
            </a:extLst>
          </p:cNvPr>
          <p:cNvSpPr/>
          <p:nvPr/>
        </p:nvSpPr>
        <p:spPr>
          <a:xfrm>
            <a:off x="595374" y="427037"/>
            <a:ext cx="1578865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D9B5F79-F15E-8405-A4D2-49F0C3FC94CB}"/>
              </a:ext>
            </a:extLst>
          </p:cNvPr>
          <p:cNvCxnSpPr/>
          <p:nvPr/>
        </p:nvCxnSpPr>
        <p:spPr>
          <a:xfrm>
            <a:off x="571500" y="1671638"/>
            <a:ext cx="370998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B532778-35E8-8C48-E535-F27CAE46EC11}"/>
              </a:ext>
            </a:extLst>
          </p:cNvPr>
          <p:cNvCxnSpPr>
            <a:cxnSpLocks/>
          </p:cNvCxnSpPr>
          <p:nvPr/>
        </p:nvCxnSpPr>
        <p:spPr>
          <a:xfrm>
            <a:off x="4686300" y="1700313"/>
            <a:ext cx="3886200" cy="0"/>
          </a:xfrm>
          <a:prstGeom prst="line">
            <a:avLst/>
          </a:prstGeom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8ABA1CC-B3E1-1DC3-29F3-6103B8DFA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235" y="-77289"/>
            <a:ext cx="9221193" cy="518692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51B520D-EF7A-2318-1137-23B793580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407" y="97368"/>
            <a:ext cx="4851318" cy="286041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C8903A7-4876-9305-43A1-ACEC75A6E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406" y="2957785"/>
            <a:ext cx="4851319" cy="2010383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077AA79-0EE5-59F8-B6C7-933AFB17B2E1}"/>
              </a:ext>
            </a:extLst>
          </p:cNvPr>
          <p:cNvSpPr/>
          <p:nvPr/>
        </p:nvSpPr>
        <p:spPr>
          <a:xfrm>
            <a:off x="302576" y="356658"/>
            <a:ext cx="1871663" cy="25289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 Canvas</a:t>
            </a:r>
            <a:endParaRPr lang="en-US" sz="900" dirty="0"/>
          </a:p>
        </p:txBody>
      </p:sp>
      <p:sp>
        <p:nvSpPr>
          <p:cNvPr id="8" name="矩形: 圆角 68">
            <a:extLst>
              <a:ext uri="{FF2B5EF4-FFF2-40B4-BE49-F238E27FC236}">
                <a16:creationId xmlns:a16="http://schemas.microsoft.com/office/drawing/2014/main" id="{8C9804E6-23ED-199E-9952-673457F54081}"/>
              </a:ext>
            </a:extLst>
          </p:cNvPr>
          <p:cNvSpPr/>
          <p:nvPr/>
        </p:nvSpPr>
        <p:spPr>
          <a:xfrm>
            <a:off x="326452" y="355070"/>
            <a:ext cx="1434616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908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406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163" y="428625"/>
            <a:ext cx="1387673" cy="280392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1" dirty="0">
                <a:solidFill>
                  <a:srgbClr val="3A0C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TO ACTION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71500" y="994767"/>
            <a:ext cx="800100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Student. Every Path. </a:t>
            </a:r>
            <a:r>
              <a:rPr lang="en-US" sz="2862" b="1" dirty="0">
                <a:solidFill>
                  <a:srgbClr val="436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Potential.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1714500" y="2240626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seeking strategic partners and investors to accelerate platform development, regulatory compliance, and market entry in Hong Kong and Mainland China. Join us in shaping the future of learning.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3212176"/>
            <a:ext cx="3893344" cy="169982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444348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2988" y="3426489"/>
            <a:ext cx="9358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19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768496"/>
            <a:ext cx="142875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4413" y="3747957"/>
            <a:ext cx="1213474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demo upcoming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4009597"/>
            <a:ext cx="142875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4413" y="3989059"/>
            <a:ext cx="23270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school partnerships in discussion</a:t>
            </a:r>
            <a:endParaRPr lang="en-US" sz="942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4250699"/>
            <a:ext cx="142875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4413" y="4230160"/>
            <a:ext cx="19413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roadmap in progress</a:t>
            </a:r>
            <a:endParaRPr lang="en-US" sz="942" dirty="0"/>
          </a:p>
        </p:txBody>
      </p:sp>
      <p:sp>
        <p:nvSpPr>
          <p:cNvPr id="15" name="Shape 8"/>
          <p:cNvSpPr/>
          <p:nvPr/>
        </p:nvSpPr>
        <p:spPr>
          <a:xfrm>
            <a:off x="4679156" y="3212176"/>
            <a:ext cx="3893344" cy="169982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3444348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50644" y="3426489"/>
            <a:ext cx="106620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</a:t>
            </a:r>
            <a:endParaRPr lang="en-US" sz="1193" dirty="0"/>
          </a:p>
        </p:txBody>
      </p:sp>
      <p:sp>
        <p:nvSpPr>
          <p:cNvPr id="18" name="Text 10"/>
          <p:cNvSpPr/>
          <p:nvPr/>
        </p:nvSpPr>
        <p:spPr>
          <a:xfrm>
            <a:off x="4893469" y="3747957"/>
            <a:ext cx="346471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redefine education for the AI generation? Let's connect.</a:t>
            </a:r>
            <a:endParaRPr lang="en-US" sz="834" dirty="0"/>
          </a:p>
        </p:txBody>
      </p:sp>
      <p:sp>
        <p:nvSpPr>
          <p:cNvPr id="22" name="Shape 13"/>
          <p:cNvSpPr/>
          <p:nvPr/>
        </p:nvSpPr>
        <p:spPr>
          <a:xfrm>
            <a:off x="4932482" y="4205124"/>
            <a:ext cx="851892" cy="326827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5357" y="4304243"/>
            <a:ext cx="128588" cy="12858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61094" y="4290849"/>
            <a:ext cx="3518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885" dirty="0"/>
          </a:p>
        </p:txBody>
      </p:sp>
      <p:sp>
        <p:nvSpPr>
          <p:cNvPr id="19" name="矩形: 圆角 68">
            <a:extLst>
              <a:ext uri="{FF2B5EF4-FFF2-40B4-BE49-F238E27FC236}">
                <a16:creationId xmlns:a16="http://schemas.microsoft.com/office/drawing/2014/main" id="{44457D17-C9BF-5B44-E313-D48601D11306}"/>
              </a:ext>
            </a:extLst>
          </p:cNvPr>
          <p:cNvSpPr/>
          <p:nvPr/>
        </p:nvSpPr>
        <p:spPr>
          <a:xfrm>
            <a:off x="4000500" y="448269"/>
            <a:ext cx="1074857" cy="235746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rgbClr val="3A0CA3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881</Words>
  <Application>Microsoft Office PowerPoint</Application>
  <PresentationFormat>全屏显示(16:9)</PresentationFormat>
  <Paragraphs>148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Inter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Jack Guan</cp:lastModifiedBy>
  <cp:revision>13</cp:revision>
  <dcterms:created xsi:type="dcterms:W3CDTF">2026-03-25T16:07:03Z</dcterms:created>
  <dcterms:modified xsi:type="dcterms:W3CDTF">2026-03-27T11:13:28Z</dcterms:modified>
</cp:coreProperties>
</file>